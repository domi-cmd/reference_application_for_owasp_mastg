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5"/>
  </p:notesMasterIdLst>
  <p:handoutMasterIdLst>
    <p:handoutMasterId r:id="rId56"/>
  </p:handoutMasterIdLst>
  <p:sldIdLst>
    <p:sldId id="256" r:id="rId4"/>
    <p:sldId id="328" r:id="rId5"/>
    <p:sldId id="321" r:id="rId6"/>
    <p:sldId id="319" r:id="rId7"/>
    <p:sldId id="320" r:id="rId8"/>
    <p:sldId id="312" r:id="rId9"/>
    <p:sldId id="325" r:id="rId10"/>
    <p:sldId id="313" r:id="rId11"/>
    <p:sldId id="324" r:id="rId12"/>
    <p:sldId id="332" r:id="rId13"/>
    <p:sldId id="330" r:id="rId14"/>
    <p:sldId id="315" r:id="rId15"/>
    <p:sldId id="316" r:id="rId16"/>
    <p:sldId id="317" r:id="rId17"/>
    <p:sldId id="290" r:id="rId18"/>
    <p:sldId id="291" r:id="rId19"/>
    <p:sldId id="274" r:id="rId20"/>
    <p:sldId id="262" r:id="rId21"/>
    <p:sldId id="273" r:id="rId22"/>
    <p:sldId id="275" r:id="rId23"/>
    <p:sldId id="326" r:id="rId24"/>
    <p:sldId id="263" r:id="rId25"/>
    <p:sldId id="277" r:id="rId26"/>
    <p:sldId id="276" r:id="rId27"/>
    <p:sldId id="278" r:id="rId28"/>
    <p:sldId id="292" r:id="rId29"/>
    <p:sldId id="335" r:id="rId30"/>
    <p:sldId id="333" r:id="rId31"/>
    <p:sldId id="334" r:id="rId32"/>
    <p:sldId id="288" r:id="rId33"/>
    <p:sldId id="289" r:id="rId34"/>
    <p:sldId id="264" r:id="rId35"/>
    <p:sldId id="293" r:id="rId36"/>
    <p:sldId id="331" r:id="rId37"/>
    <p:sldId id="294" r:id="rId38"/>
    <p:sldId id="296" r:id="rId39"/>
    <p:sldId id="297" r:id="rId40"/>
    <p:sldId id="298" r:id="rId41"/>
    <p:sldId id="295" r:id="rId42"/>
    <p:sldId id="282" r:id="rId43"/>
    <p:sldId id="301" r:id="rId44"/>
    <p:sldId id="302" r:id="rId45"/>
    <p:sldId id="283" r:id="rId46"/>
    <p:sldId id="304" r:id="rId47"/>
    <p:sldId id="305" r:id="rId48"/>
    <p:sldId id="284" r:id="rId49"/>
    <p:sldId id="285" r:id="rId50"/>
    <p:sldId id="308" r:id="rId51"/>
    <p:sldId id="307" r:id="rId52"/>
    <p:sldId id="327" r:id="rId53"/>
    <p:sldId id="306" r:id="rId5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viewProps" Target="viewProps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presProps" Target="presProp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07.02.2026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chinsideout.co/inside/security-vulnerabilities-found-in-over-60-of-android-apps" TargetMode="External"/><Relationship Id="rId2" Type="http://schemas.openxmlformats.org/officeDocument/2006/relationships/hyperlink" Target="https://gs.statcounter.com/os-market-share/mobile/worldwide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48550/arXiv.2510.06015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mas.owasp.org/" TargetMode="External"/><Relationship Id="rId2" Type="http://schemas.openxmlformats.org/officeDocument/2006/relationships/hyperlink" Target="https://doi.org/10.1145/3588001.3609367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OWASP/mastg/tree/ffde0bdd9bdfd375d93ddb433bd3134e3977c64d/apps/android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>
                <a:solidFill>
                  <a:schemeClr val="bg2"/>
                </a:solidFill>
              </a:rPr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>
                <a:solidFill>
                  <a:schemeClr val="tx1"/>
                </a:solidFill>
              </a:rPr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F838B-9793-1E2D-5B63-E6C84A16B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8DEED39-1B51-F25A-29A9-94C1D53561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Android Dominance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5467C5E-75FF-4EAE-645B-68E6FC59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46E172-560B-8BDE-237B-CC21EE2AA1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Sideloading of apps</a:t>
            </a:r>
          </a:p>
          <a:p>
            <a:pPr>
              <a:lnSpc>
                <a:spcPct val="150000"/>
              </a:lnSpc>
            </a:pPr>
            <a:r>
              <a:rPr lang="en-US" dirty="0"/>
              <a:t>Automated security review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i="1" noProof="0" dirty="0"/>
              <a:t>Prone </a:t>
            </a:r>
            <a:r>
              <a:rPr lang="en-US" i="1" dirty="0"/>
              <a:t>to v</a:t>
            </a:r>
            <a:r>
              <a:rPr lang="en-US" i="1" noProof="0" dirty="0" err="1"/>
              <a:t>ulnerabilities</a:t>
            </a: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B6E05ED-11BE-82C9-0606-42D797B9E6C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4D6812B-4695-A409-3FDE-07165F82C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453924-915C-0DFE-D4BB-1EBE0F86AB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5" name="Grafik 4" descr="Ein Bild, das Text, Screenshot, Schrift, Kreis enthält.&#10;&#10;KI-generierte Inhalte können fehlerhaft sein.">
            <a:extLst>
              <a:ext uri="{FF2B5EF4-FFF2-40B4-BE49-F238E27FC236}">
                <a16:creationId xmlns:a16="http://schemas.microsoft.com/office/drawing/2014/main" id="{E8FD955B-52D4-18F5-BE9E-12B060EE7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056" y="1386977"/>
            <a:ext cx="2987079" cy="318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59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The Problem in Numbers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r>
              <a:rPr lang="en-US" dirty="0"/>
              <a:t>Around 5?</a:t>
            </a:r>
          </a:p>
          <a:p>
            <a:pPr>
              <a:lnSpc>
                <a:spcPct val="150000"/>
              </a:lnSpc>
            </a:pPr>
            <a:r>
              <a:rPr lang="en-US" dirty="0"/>
              <a:t>Around 15?</a:t>
            </a:r>
          </a:p>
          <a:p>
            <a:pPr>
              <a:lnSpc>
                <a:spcPct val="150000"/>
              </a:lnSpc>
            </a:pPr>
            <a:r>
              <a:rPr lang="en-US" dirty="0"/>
              <a:t>More than 30?</a:t>
            </a: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</a:t>
            </a:r>
            <a:r>
              <a:rPr lang="en-US" dirty="0"/>
              <a:t>S</a:t>
            </a:r>
            <a:r>
              <a:rPr lang="en-US" noProof="0" dirty="0" err="1"/>
              <a:t>tevenson</a:t>
            </a:r>
            <a:r>
              <a:rPr lang="en-US" noProof="0" dirty="0"/>
              <a:t>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96FE-28C1-0EB1-1B63-38103B8B7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1BEA3D-BF86-9C8E-ACF8-54A5E5C77A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1DB040A-2EBC-0C1B-6661-5695E9DAB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AEF5994-AB60-B71F-38F7-11DBF1BF4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CF08163-F9EB-4A62-6E1A-03D1B6FA432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F4182B-0650-3ABB-177A-BAE527E8EF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F15101C-F91B-BCF4-F6CE-ED0794DA7FC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0373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(Chiboora et al., 2023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interviewed developers: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cited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Lack of knowledge…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…make </a:t>
            </a:r>
            <a:r>
              <a:rPr lang="en-US" b="1" dirty="0"/>
              <a:t>mobile security knowledge</a:t>
            </a:r>
            <a:r>
              <a:rPr lang="en-US" dirty="0"/>
              <a:t> more accessible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Too complex and expensive…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…promote the best </a:t>
            </a:r>
            <a:r>
              <a:rPr lang="en-US" b="1" dirty="0"/>
              <a:t>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7CCEB-EC9C-81C2-56E5-63FAFE94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A4FBC87-F219-6970-8421-413D8B6C8D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1372BE3-83D3-6344-0781-FFE9D2AE6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38E9439-892E-FC8C-7FB2-F5A581592D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41A3795-B4C6-CA60-77E9-29E6DC6AD0E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415A1A-755C-EDC4-5542-4E2338E787D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527D5B62-9FAA-F21D-1333-063B246C9974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2196692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8C2E8-6FBF-0F6F-0B3B-93E3FEAD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8805191-FFAD-9A03-AD05-E469105BCD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C2F7245-0BA0-6ABC-ADF1-AFE6FD94E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4D48D23-C47F-CFBD-F903-5EF04F947F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FB1FBBF-5993-A467-B36D-4E124D3D3D1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076E40C-2F25-7A6B-6BA2-54F0DDCAE6F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E18E8960-5BFF-9B51-423F-4745EFE49F0C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2965204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Making Mobile Security More Accessible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OWASP</a:t>
            </a:r>
            <a:r>
              <a:rPr lang="en-US" noProof="0" dirty="0"/>
              <a:t>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Tools for vulnerability detection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Promoting the Best Security Testing Tools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…improve educational value of OWASP MASTG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...create a benchmark for evaluating SAST &amp; DAST tools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</a:t>
            </a:r>
            <a:r>
              <a:rPr lang="en-US" i="1" noProof="0" dirty="0"/>
              <a:t>solve both challenges!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Our Purpose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</a:t>
            </a:r>
            <a:r>
              <a:rPr lang="en-US" noProof="0" dirty="0" err="1"/>
              <a:t>esting</a:t>
            </a:r>
            <a:r>
              <a:rPr lang="en-US" noProof="0" dirty="0"/>
              <a:t> tools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C0DE-1380-91C2-0F3C-7B21E376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77CF773-BFCA-D3B5-2AF7-7D7335614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666D68-0D73-30A0-1CD7-DDA6D814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24B0D4A-7708-B6EC-F002-7DF590D7D20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Take-away points: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Significant use-case for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testing tools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9DB9BD-6149-4BF0-EE69-27F9C246139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8497FD9-1CA0-DE30-143F-294594CC2E0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B2259FF-ED81-7380-55AF-A876F69C16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07045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Understanding the Challenge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What makes a good reference app?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</a:t>
            </a:r>
            <a:r>
              <a:rPr lang="en-US" b="1" dirty="0"/>
              <a:t>18</a:t>
            </a:r>
            <a:r>
              <a:rPr lang="en-US" dirty="0"/>
              <a:t> are</a:t>
            </a:r>
            <a:r>
              <a:rPr lang="en-US" b="1" dirty="0"/>
              <a:t>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MASTG, 2025)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Of 117 MASWE vulnerability types…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</a:t>
            </a:r>
            <a:r>
              <a:rPr lang="en-US" dirty="0"/>
              <a:t>…42 (35.9%) covered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</a:t>
            </a:r>
            <a:r>
              <a:rPr lang="en-US" dirty="0"/>
              <a:t>75 (64.1%) with no reference implementations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vulnerability types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EED3-820A-E3C0-A771-BDF00D104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ACB5757-5A6B-434F-FD0D-35EA5A630A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Types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108429-5608-01F5-35B0-6D8B5A807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4D0EF72-6BF5-DB4D-7995-3A56034A88F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AD5E2D0-756E-F45F-53E8-F20F3D73125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AC9D7E3-BDC7-0D56-BD55-60295A005F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A55B551-593B-558D-0CB7-D36647F7C9D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pic>
        <p:nvPicPr>
          <p:cNvPr id="5" name="Grafik 4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21CF007-E999-38C4-B860-53368421C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955" y="1866244"/>
            <a:ext cx="5501682" cy="2730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75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3637-D2FD-AD52-68A8-B943BAB89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103AA15-7B23-42DD-E449-1E825014CC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0D112F5-102E-31D9-552D-8463A244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7FA4BA-6EA4-8C8E-580A-F457510AEA6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2D1908-2EEC-EE71-8828-97D45081916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46516-6295-A892-43AB-3F26098AC00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6997794-13A3-EEF9-765C-ED6A3CBDC5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  <p:pic>
        <p:nvPicPr>
          <p:cNvPr id="16" name="Grafik 15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FBFF6CC8-0115-B442-5264-3D3BD210F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137" y="1915610"/>
            <a:ext cx="5501682" cy="272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261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0894-AC59-53B0-65F1-F4E144D57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C35A3DD-A023-A702-60C9-E83151780A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025C0AB-962A-282A-0043-6E6B2ED1F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E718A96-AEA2-E265-63FA-9D833CE8363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703E3A-EEB3-817D-093E-340F730748A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0269AB1-5424-62E0-533F-19D03018E14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EE1F040-0B41-97AD-DABE-DD28D59F10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B65EF75-83F2-1D4D-13F6-152B42483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979" y="1919624"/>
            <a:ext cx="5517840" cy="273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2117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Take-Away Points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Significance for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Vulnerabilities with no coverage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</a:t>
            </a:r>
            <a:r>
              <a:rPr lang="en-US" i="1" noProof="0" dirty="0"/>
              <a:t>“common”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89D5D-7C50-7DD7-0E58-AA269A14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D46B93-44EB-F98A-8F8B-CEA5670D2A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DBE7BA0-D45D-FBBA-21A4-49E91B1F3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CABCB5CD-383C-0E3B-8F40-BCF7A38E6C9C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B355760-0C9C-DBC5-A4BE-6B8E3A839EF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98A413-8350-5BED-6445-BE3352539FB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D374115-A8F2-BC49-6137-972351B0A6C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2EF8BEFF-3F05-B0FB-5FC0-B040C601E419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Uniform formatting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9640780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app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Menu as launcher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b="1" noProof="0" dirty="0"/>
              <a:t>All</a:t>
            </a:r>
            <a:r>
              <a:rPr lang="en-US" noProof="0" dirty="0"/>
              <a:t> vulnerabilities</a:t>
            </a:r>
            <a:r>
              <a:rPr lang="en-US" dirty="0"/>
              <a:t> (</a:t>
            </a:r>
            <a:r>
              <a:rPr lang="en-US" noProof="0" dirty="0"/>
              <a:t>packages)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Mostly differ in encryption and storage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-&gt; </a:t>
            </a:r>
            <a:r>
              <a:rPr lang="en-US" i="1" noProof="0" dirty="0" err="1"/>
              <a:t>Abstra</a:t>
            </a:r>
            <a:r>
              <a:rPr lang="en-US" i="1" dirty="0" err="1"/>
              <a:t>ct</a:t>
            </a:r>
            <a:r>
              <a:rPr lang="en-US" i="1" dirty="0"/>
              <a:t> classes for login &amp; registration</a:t>
            </a:r>
            <a:endParaRPr lang="en-US" i="1" noProof="0" dirty="0"/>
          </a:p>
        </p:txBody>
      </p:sp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Architecture Summary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One app per vulnerability category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</a:t>
            </a:r>
            <a:r>
              <a:rPr lang="en-US" i="1" noProof="0" dirty="0"/>
              <a:t>“common”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  <p:pic>
        <p:nvPicPr>
          <p:cNvPr id="14" name="Grafik 1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1077B73-6AD1-11DE-AB4E-213FB00C9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161" y="1958013"/>
            <a:ext cx="5299839" cy="262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MobSF Static Scan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noProof="0" dirty="0"/>
              <a:t>Developed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Identified weaknesses of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Designed a </a:t>
            </a:r>
            <a:r>
              <a:rPr lang="en-US" dirty="0"/>
              <a:t>clean and scalable apps architecture</a:t>
            </a:r>
          </a:p>
          <a:p>
            <a:pPr>
              <a:lnSpc>
                <a:spcPct val="150000"/>
              </a:lnSpc>
            </a:pPr>
            <a:r>
              <a:rPr lang="en-US" dirty="0"/>
              <a:t>Increased coverage of MASVS categories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StatCounter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2"/>
              </a:rPr>
              <a:t>https://gs.statcounter.com/os-market-share/mobile/worldwide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3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Stevenson, L., &amp; Das, S. (2025). </a:t>
            </a:r>
            <a:r>
              <a:rPr lang="en-US" sz="1400" i="1" dirty="0"/>
              <a:t>“Your doctor is spying on you”: An analysis of data practices in mobile healthcare applications</a:t>
            </a:r>
            <a:r>
              <a:rPr lang="en-US" sz="1400" dirty="0"/>
              <a:t> (arXiv:2510.06015). </a:t>
            </a:r>
            <a:r>
              <a:rPr lang="en-US" sz="1400" dirty="0" err="1"/>
              <a:t>arXiv</a:t>
            </a:r>
            <a:r>
              <a:rPr lang="en-US" sz="1400" dirty="0"/>
              <a:t>. </a:t>
            </a:r>
            <a:r>
              <a:rPr lang="en-US" sz="1400" dirty="0">
                <a:hlinkClick r:id="rId4"/>
              </a:rPr>
              <a:t>https://doi.org/10.48550/arXiv.2510.06015</a:t>
            </a:r>
            <a:endParaRPr lang="en-US" sz="140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0AE52-FC4D-C8EB-2D9D-4D6B89AF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ED4ACE-6196-C8D7-8A33-7F52874BCD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FA00ED5-48B8-9DCD-233D-6BEB2B0C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A9A1BE-072D-3160-0CDF-6BEE52C1A57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de-CH" sz="1400" dirty="0"/>
              <a:t>Chiboora, T. H., </a:t>
            </a:r>
            <a:r>
              <a:rPr lang="de-CH" sz="1400" dirty="0" err="1"/>
              <a:t>Chacha</a:t>
            </a:r>
            <a:r>
              <a:rPr lang="de-CH" sz="1400" dirty="0"/>
              <a:t>, L., </a:t>
            </a:r>
            <a:r>
              <a:rPr lang="de-CH" sz="1400" dirty="0" err="1"/>
              <a:t>Byagutangaza</a:t>
            </a:r>
            <a:r>
              <a:rPr lang="de-CH" sz="1400" dirty="0"/>
              <a:t>, T., &amp; </a:t>
            </a:r>
            <a:r>
              <a:rPr lang="de-CH" sz="1400" dirty="0" err="1"/>
              <a:t>Gueye</a:t>
            </a:r>
            <a:r>
              <a:rPr lang="de-CH" sz="1400" dirty="0"/>
              <a:t>, A. (2023). </a:t>
            </a:r>
            <a:r>
              <a:rPr lang="de-CH" sz="1400" i="1" dirty="0" err="1"/>
              <a:t>Evaluating</a:t>
            </a:r>
            <a:r>
              <a:rPr lang="de-CH" sz="1400" i="1" dirty="0"/>
              <a:t> mobile </a:t>
            </a:r>
            <a:r>
              <a:rPr lang="de-CH" sz="1400" i="1" dirty="0" err="1"/>
              <a:t>banking</a:t>
            </a:r>
            <a:r>
              <a:rPr lang="de-CH" sz="1400" i="1" dirty="0"/>
              <a:t> </a:t>
            </a:r>
            <a:r>
              <a:rPr lang="de-CH" sz="1400" i="1" dirty="0" err="1"/>
              <a:t>application</a:t>
            </a:r>
            <a:r>
              <a:rPr lang="de-CH" sz="1400" i="1" dirty="0"/>
              <a:t> </a:t>
            </a:r>
            <a:r>
              <a:rPr lang="de-CH" sz="1400" i="1" dirty="0" err="1"/>
              <a:t>security</a:t>
            </a:r>
            <a:r>
              <a:rPr lang="de-CH" sz="1400" i="1" dirty="0"/>
              <a:t> </a:t>
            </a:r>
            <a:r>
              <a:rPr lang="de-CH" sz="1400" i="1" dirty="0" err="1"/>
              <a:t>posture</a:t>
            </a:r>
            <a:r>
              <a:rPr lang="de-CH" sz="1400" i="1" dirty="0"/>
              <a:t> </a:t>
            </a:r>
            <a:r>
              <a:rPr lang="de-CH" sz="1400" i="1" dirty="0" err="1"/>
              <a:t>using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</a:t>
            </a:r>
            <a:r>
              <a:rPr lang="de-CH" sz="1400" i="1" dirty="0" err="1"/>
              <a:t>OWASP’s</a:t>
            </a:r>
            <a:r>
              <a:rPr lang="de-CH" sz="1400" i="1" dirty="0"/>
              <a:t> MASVS </a:t>
            </a:r>
            <a:r>
              <a:rPr lang="de-CH" sz="1400" i="1" dirty="0" err="1"/>
              <a:t>framework</a:t>
            </a:r>
            <a:r>
              <a:rPr lang="de-CH" sz="1400" dirty="0"/>
              <a:t>. In </a:t>
            </a:r>
            <a:r>
              <a:rPr lang="de-CH" sz="1400" i="1" dirty="0"/>
              <a:t>Proceedings </a:t>
            </a:r>
            <a:r>
              <a:rPr lang="de-CH" sz="1400" i="1" dirty="0" err="1"/>
              <a:t>of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6th ACM SIGCAS/SIGCHI Conference on Computing and </a:t>
            </a:r>
            <a:r>
              <a:rPr lang="de-CH" sz="1400" i="1" dirty="0" err="1"/>
              <a:t>Sustainable</a:t>
            </a:r>
            <a:r>
              <a:rPr lang="de-CH" sz="1400" i="1" dirty="0"/>
              <a:t> Societies (COMPASS 2023)</a:t>
            </a:r>
            <a:r>
              <a:rPr lang="de-CH" sz="1400" dirty="0"/>
              <a:t> (pp. 99–106). ACM. </a:t>
            </a:r>
            <a:r>
              <a:rPr lang="de-CH" sz="1400" dirty="0">
                <a:hlinkClick r:id="rId2"/>
              </a:rPr>
              <a:t>https://doi.org/10.1145/3588001.3609367</a:t>
            </a:r>
            <a:endParaRPr lang="de-CH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Security. (2025). </a:t>
            </a:r>
            <a:r>
              <a:rPr lang="en-US" sz="1400" i="1" dirty="0"/>
              <a:t>Home page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3"/>
              </a:rPr>
              <a:t>https://mas.owasp.org/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 Testing Guide (MASTG). (2025). </a:t>
            </a:r>
            <a:r>
              <a:rPr lang="en-US" sz="1400" i="1" dirty="0"/>
              <a:t>Android reference apps section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4"/>
              </a:rPr>
              <a:t>https://github.com/OWASP/mastg/tree/ffde0bdd9bdfd375d93ddb433bd3134e3977c64d/apps/android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D75FB1-E467-F2FE-BC4D-F49775063E4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907E6BB-8850-8DA0-6092-87B50923B4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296EAA-DCB2-B193-D4AA-9D3B42002A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169290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1495</Words>
  <Application>Microsoft Office PowerPoint</Application>
  <PresentationFormat>Bildschirmpräsentation (16:9)</PresentationFormat>
  <Paragraphs>340</Paragraphs>
  <Slides>51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51</vt:i4>
      </vt:variant>
    </vt:vector>
  </HeadingPairs>
  <TitlesOfParts>
    <vt:vector size="57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392</cp:revision>
  <dcterms:created xsi:type="dcterms:W3CDTF">2021-06-29T15:00:13Z</dcterms:created>
  <dcterms:modified xsi:type="dcterms:W3CDTF">2026-02-08T16:40:45Z</dcterms:modified>
</cp:coreProperties>
</file>
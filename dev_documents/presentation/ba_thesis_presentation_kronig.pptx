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4"/>
  </p:notesMasterIdLst>
  <p:handoutMasterIdLst>
    <p:handoutMasterId r:id="rId55"/>
  </p:handoutMasterIdLst>
  <p:sldIdLst>
    <p:sldId id="256" r:id="rId4"/>
    <p:sldId id="328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30" r:id="rId13"/>
    <p:sldId id="315" r:id="rId14"/>
    <p:sldId id="316" r:id="rId15"/>
    <p:sldId id="317" r:id="rId16"/>
    <p:sldId id="290" r:id="rId17"/>
    <p:sldId id="291" r:id="rId18"/>
    <p:sldId id="274" r:id="rId19"/>
    <p:sldId id="262" r:id="rId20"/>
    <p:sldId id="273" r:id="rId21"/>
    <p:sldId id="275" r:id="rId22"/>
    <p:sldId id="326" r:id="rId23"/>
    <p:sldId id="263" r:id="rId24"/>
    <p:sldId id="277" r:id="rId25"/>
    <p:sldId id="276" r:id="rId26"/>
    <p:sldId id="278" r:id="rId27"/>
    <p:sldId id="292" r:id="rId28"/>
    <p:sldId id="281" r:id="rId29"/>
    <p:sldId id="286" r:id="rId30"/>
    <p:sldId id="287" r:id="rId31"/>
    <p:sldId id="288" r:id="rId32"/>
    <p:sldId id="289" r:id="rId33"/>
    <p:sldId id="264" r:id="rId34"/>
    <p:sldId id="293" r:id="rId35"/>
    <p:sldId id="331" r:id="rId36"/>
    <p:sldId id="294" r:id="rId37"/>
    <p:sldId id="296" r:id="rId38"/>
    <p:sldId id="297" r:id="rId39"/>
    <p:sldId id="298" r:id="rId40"/>
    <p:sldId id="295" r:id="rId41"/>
    <p:sldId id="282" r:id="rId42"/>
    <p:sldId id="301" r:id="rId43"/>
    <p:sldId id="302" r:id="rId44"/>
    <p:sldId id="283" r:id="rId45"/>
    <p:sldId id="304" r:id="rId46"/>
    <p:sldId id="305" r:id="rId47"/>
    <p:sldId id="284" r:id="rId48"/>
    <p:sldId id="285" r:id="rId49"/>
    <p:sldId id="308" r:id="rId50"/>
    <p:sldId id="307" r:id="rId51"/>
    <p:sldId id="327" r:id="rId52"/>
    <p:sldId id="306" r:id="rId5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theme" Target="theme/theme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viewProps" Target="view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05.02.2026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>
                <a:solidFill>
                  <a:schemeClr val="bg2"/>
                </a:solidFill>
              </a:rPr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>
                <a:solidFill>
                  <a:schemeClr val="tx1"/>
                </a:solidFill>
              </a:rPr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F838B-9793-1E2D-5B63-E6C84A16B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8DEED39-1B51-F25A-29A9-94C1D53561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Android Dominance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5467C5E-75FF-4EAE-645B-68E6FC59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46E172-560B-8BDE-237B-CC21EE2AA1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Sideloading of apps</a:t>
            </a:r>
          </a:p>
          <a:p>
            <a:pPr>
              <a:lnSpc>
                <a:spcPct val="150000"/>
              </a:lnSpc>
            </a:pPr>
            <a:r>
              <a:rPr lang="en-US" dirty="0"/>
              <a:t>Automated security review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i="1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B6E05ED-11BE-82C9-0606-42D797B9E6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4D6812B-4695-A409-3FDE-07165F82C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453924-915C-0DFE-D4BB-1EBE0F86AB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5" name="Grafik 4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E8FD955B-52D4-18F5-BE9E-12B060EE7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1386977"/>
            <a:ext cx="2987079" cy="318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5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The Problem in Numbers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r>
              <a:rPr lang="en-US" dirty="0"/>
              <a:t>Around 5?</a:t>
            </a:r>
          </a:p>
          <a:p>
            <a:pPr>
              <a:lnSpc>
                <a:spcPct val="150000"/>
              </a:lnSpc>
            </a:pPr>
            <a:r>
              <a:rPr lang="en-US" dirty="0"/>
              <a:t>Around 15?</a:t>
            </a:r>
          </a:p>
          <a:p>
            <a:pPr>
              <a:lnSpc>
                <a:spcPct val="150000"/>
              </a:lnSpc>
            </a:pPr>
            <a:r>
              <a:rPr lang="en-US" dirty="0"/>
              <a:t>More than 30?</a:t>
            </a: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interviewed developers: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cited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8C2E8-6FBF-0F6F-0B3B-93E3FEAD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8805191-FFAD-9A03-AD05-E469105BCD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C2F7245-0BA0-6ABC-ADF1-AFE6FD94E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4D48D23-C47F-CFBD-F903-5EF04F947F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FB1FBBF-5993-A467-B36D-4E124D3D3D1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076E40C-2F25-7A6B-6BA2-54F0DDCAE6F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E18E8960-5BFF-9B51-423F-4745EFE49F0C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2965204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Mobile Security Knowledge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“Make mobile security knowledge more accessible”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“Promote the best security testing tools”</a:t>
            </a:r>
          </a:p>
          <a:p>
            <a:pPr>
              <a:lnSpc>
                <a:spcPct val="150000"/>
              </a:lnSpc>
            </a:pPr>
            <a:r>
              <a:rPr lang="en-US" dirty="0"/>
              <a:t>Tools for vulnerability detection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Security Testing Tools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…improve educational value of OWASP MASTG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...create a benchmark for evaluating SAST &amp; DAST tools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i="1" noProof="0" dirty="0"/>
              <a:t>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Our Purpose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</a:t>
            </a:r>
            <a:r>
              <a:rPr lang="en-US" noProof="0" dirty="0" err="1"/>
              <a:t>esting</a:t>
            </a:r>
            <a:r>
              <a:rPr lang="en-US" noProof="0" dirty="0"/>
              <a:t> tools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Understanding the Challenge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</a:t>
            </a:r>
            <a:r>
              <a:rPr lang="en-US" b="1" dirty="0"/>
              <a:t>18</a:t>
            </a:r>
            <a:r>
              <a:rPr lang="en-US" dirty="0"/>
              <a:t> are</a:t>
            </a:r>
            <a:r>
              <a:rPr lang="en-US" b="1" dirty="0"/>
              <a:t>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Of 117 MASWE vulnerability types…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</a:t>
            </a:r>
            <a:r>
              <a:rPr lang="en-US" dirty="0"/>
              <a:t>…42 (35.9%) covered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dirty="0"/>
              <a:t>75 (64.1%) with no reference implementations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vulnerability types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Types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Take-Away Points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89D5D-7C50-7DD7-0E58-AA269A14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D46B93-44EB-F98A-8F8B-CEA5670D2A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DBE7BA0-D45D-FBBA-21A4-49E91B1F3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CABCB5CD-383C-0E3B-8F40-BCF7A38E6C9C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B355760-0C9C-DBC5-A4BE-6B8E3A839EF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98A413-8350-5BED-6445-BE3352539F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D374115-A8F2-BC49-6137-972351B0A6C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2EF8BEFF-3F05-B0FB-5FC0-B040C601E419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Uniform formatting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9640780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app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Menu as launcher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b="1" noProof="0" dirty="0"/>
              <a:t>All</a:t>
            </a:r>
            <a:r>
              <a:rPr lang="en-US" noProof="0" dirty="0"/>
              <a:t> vulnerabilities</a:t>
            </a:r>
            <a:r>
              <a:rPr lang="en-US" dirty="0"/>
              <a:t> (</a:t>
            </a:r>
            <a:r>
              <a:rPr lang="en-US" noProof="0" dirty="0"/>
              <a:t>packages)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Architecture Summary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MobSF Static Scan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noProof="0" dirty="0"/>
              <a:t>Developed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Designed a </a:t>
            </a:r>
            <a:r>
              <a:rPr lang="en-US" dirty="0"/>
              <a:t>clean and scalable apps architecture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1475</Words>
  <Application>Microsoft Office PowerPoint</Application>
  <PresentationFormat>Bildschirmpräsentation (16:9)</PresentationFormat>
  <Paragraphs>335</Paragraphs>
  <Slides>50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50</vt:i4>
      </vt:variant>
    </vt:vector>
  </HeadingPairs>
  <TitlesOfParts>
    <vt:vector size="56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State of Android App Security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367</cp:revision>
  <dcterms:created xsi:type="dcterms:W3CDTF">2021-06-29T15:00:13Z</dcterms:created>
  <dcterms:modified xsi:type="dcterms:W3CDTF">2026-02-05T10:54:33Z</dcterms:modified>
</cp:coreProperties>
</file>
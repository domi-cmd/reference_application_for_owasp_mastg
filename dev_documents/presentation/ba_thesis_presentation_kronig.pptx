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8" r:id="rId1"/>
    <p:sldMasterId id="2147483738" r:id="rId2"/>
    <p:sldMasterId id="2147483793" r:id="rId3"/>
  </p:sldMasterIdLst>
  <p:notesMasterIdLst>
    <p:notesMasterId r:id="rId52"/>
  </p:notesMasterIdLst>
  <p:handoutMasterIdLst>
    <p:handoutMasterId r:id="rId53"/>
  </p:handoutMasterIdLst>
  <p:sldIdLst>
    <p:sldId id="256" r:id="rId4"/>
    <p:sldId id="322" r:id="rId5"/>
    <p:sldId id="321" r:id="rId6"/>
    <p:sldId id="319" r:id="rId7"/>
    <p:sldId id="320" r:id="rId8"/>
    <p:sldId id="312" r:id="rId9"/>
    <p:sldId id="325" r:id="rId10"/>
    <p:sldId id="313" r:id="rId11"/>
    <p:sldId id="324" r:id="rId12"/>
    <p:sldId id="315" r:id="rId13"/>
    <p:sldId id="316" r:id="rId14"/>
    <p:sldId id="317" r:id="rId15"/>
    <p:sldId id="290" r:id="rId16"/>
    <p:sldId id="291" r:id="rId17"/>
    <p:sldId id="274" r:id="rId18"/>
    <p:sldId id="262" r:id="rId19"/>
    <p:sldId id="273" r:id="rId20"/>
    <p:sldId id="275" r:id="rId21"/>
    <p:sldId id="263" r:id="rId22"/>
    <p:sldId id="277" r:id="rId23"/>
    <p:sldId id="276" r:id="rId24"/>
    <p:sldId id="278" r:id="rId25"/>
    <p:sldId id="292" r:id="rId26"/>
    <p:sldId id="281" r:id="rId27"/>
    <p:sldId id="286" r:id="rId28"/>
    <p:sldId id="287" r:id="rId29"/>
    <p:sldId id="288" r:id="rId30"/>
    <p:sldId id="289" r:id="rId31"/>
    <p:sldId id="264" r:id="rId32"/>
    <p:sldId id="293" r:id="rId33"/>
    <p:sldId id="294" r:id="rId34"/>
    <p:sldId id="296" r:id="rId35"/>
    <p:sldId id="297" r:id="rId36"/>
    <p:sldId id="298" r:id="rId37"/>
    <p:sldId id="299" r:id="rId38"/>
    <p:sldId id="300" r:id="rId39"/>
    <p:sldId id="295" r:id="rId40"/>
    <p:sldId id="282" r:id="rId41"/>
    <p:sldId id="301" r:id="rId42"/>
    <p:sldId id="302" r:id="rId43"/>
    <p:sldId id="283" r:id="rId44"/>
    <p:sldId id="304" r:id="rId45"/>
    <p:sldId id="305" r:id="rId46"/>
    <p:sldId id="284" r:id="rId47"/>
    <p:sldId id="285" r:id="rId48"/>
    <p:sldId id="308" r:id="rId49"/>
    <p:sldId id="307" r:id="rId50"/>
    <p:sldId id="306" r:id="rId5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E0BF"/>
    <a:srgbClr val="BDCCD2"/>
    <a:srgbClr val="FFFFFF"/>
    <a:srgbClr val="4A8796"/>
    <a:srgbClr val="E6002E"/>
    <a:srgbClr val="F4F4F4"/>
    <a:srgbClr val="8E8E8E"/>
    <a:srgbClr val="8DABC9"/>
    <a:srgbClr val="E1EBF5"/>
    <a:srgbClr val="BED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0A1B5D5-9B99-4C35-A422-299274C87663}" styleName="Mittlere Formatvorlage 1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ittlere Formatvorlage 1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21" autoAdjust="0"/>
    <p:restoredTop sz="76855" autoAdjust="0"/>
  </p:normalViewPr>
  <p:slideViewPr>
    <p:cSldViewPr>
      <p:cViewPr varScale="1">
        <p:scale>
          <a:sx n="92" d="100"/>
          <a:sy n="92" d="100"/>
        </p:scale>
        <p:origin x="5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21" d="100"/>
          <a:sy n="121" d="100"/>
        </p:scale>
        <p:origin x="49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theme" Target="theme/theme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tableStyles" Target="tableStyles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2B13D9-EE20-4263-A517-453A6CC03581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D6EC07-0A99-4547-B3E3-7D82A955BA1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4867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B9E2E8-0589-406D-8FD1-7B0DBC84FBDE}" type="datetimeFigureOut">
              <a:rPr lang="de-CH" smtClean="0"/>
              <a:t>03.02.2026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01061-0450-4586-BC97-FCEC15115AD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2552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23" hasCustomPrompt="1"/>
          </p:nvPr>
        </p:nvSpPr>
        <p:spPr>
          <a:xfrm rot="20402096">
            <a:off x="3613655" y="2323187"/>
            <a:ext cx="1800225" cy="1593397"/>
          </a:xfrm>
          <a:prstGeom prst="rect">
            <a:avLst/>
          </a:prstGeom>
          <a:solidFill>
            <a:srgbClr val="F4F4F4"/>
          </a:solidFill>
        </p:spPr>
        <p:txBody>
          <a:bodyPr lIns="36000" tIns="36000" rIns="36000" bIns="36000" anchor="ctr"/>
          <a:lstStyle>
            <a:lvl1pPr marL="0" indent="0" algn="ctr" defTabSz="457200" rtl="0" eaLnBrk="1" latinLnBrk="0" hangingPunct="1">
              <a:buNone/>
              <a:defRPr lang="de-DE" sz="6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1pPr>
            <a:lvl2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2pPr>
            <a:lvl3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3pPr>
            <a:lvl4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4pPr>
            <a:lvl5pPr marL="0" algn="ctr" defTabSz="457200" rtl="0" eaLnBrk="1" latinLnBrk="0" hangingPunct="1">
              <a:defRPr lang="en-US" sz="8000" kern="1200" dirty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CH" dirty="0"/>
              <a:t>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957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0" y="2016000"/>
            <a:ext cx="9144000" cy="3127500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20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«Titelbild»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3262353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00789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</p:spTree>
    <p:extLst>
      <p:ext uri="{BB962C8B-B14F-4D97-AF65-F5344CB8AC3E}">
        <p14:creationId xmlns:p14="http://schemas.microsoft.com/office/powerpoint/2010/main" val="755814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8424467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966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719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3204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60000" y="1332000"/>
            <a:ext cx="4176000" cy="3204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89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8424466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64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332000"/>
            <a:ext cx="8424467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8424466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441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420000"/>
            <a:ext cx="8424466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1" y="225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010637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401032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4608000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</p:spTree>
    <p:extLst>
      <p:ext uri="{BB962C8B-B14F-4D97-AF65-F5344CB8AC3E}">
        <p14:creationId xmlns:p14="http://schemas.microsoft.com/office/powerpoint/2010/main" val="31906117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8424467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702517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1282835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6" y="1080000"/>
            <a:ext cx="6588264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3550162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195736" y="1080000"/>
            <a:ext cx="658826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195737" y="2844000"/>
            <a:ext cx="6588262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375027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7" y="108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195737" y="3420000"/>
            <a:ext cx="6588261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195736" y="225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1365748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6" y="1080000"/>
            <a:ext cx="5112568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4248614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015716" y="1080000"/>
            <a:ext cx="5112568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015716" y="2844000"/>
            <a:ext cx="5112567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15346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5" y="108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015716" y="3420000"/>
            <a:ext cx="5112568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2015714" y="225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9818678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2699793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444508" y="1080000"/>
            <a:ext cx="2700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8377531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-1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0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444715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444716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796597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2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2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8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1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444816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0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444816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2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444815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5744613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60038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012160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0130879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2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2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012160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012161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581733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359533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359533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359532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011962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011962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011961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1446908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6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80175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9" name="Inhaltsplatzhalter 7"/>
          <p:cNvSpPr>
            <a:spLocks noGrp="1"/>
          </p:cNvSpPr>
          <p:nvPr>
            <p:ph sz="quarter" idx="3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4393648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629178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38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607745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87907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53"/>
          <p:cNvSpPr>
            <a:spLocks noGrp="1"/>
          </p:cNvSpPr>
          <p:nvPr>
            <p:ph sz="half" idx="36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7776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212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9" name="Bildplatzhalter 4"/>
          <p:cNvSpPr>
            <a:spLocks noGrp="1"/>
          </p:cNvSpPr>
          <p:nvPr>
            <p:ph type="pic" sz="quarter" idx="28"/>
          </p:nvPr>
        </p:nvSpPr>
        <p:spPr>
          <a:xfrm>
            <a:off x="2087796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651273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9339186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18"/>
          <p:cNvSpPr>
            <a:spLocks noGrp="1"/>
          </p:cNvSpPr>
          <p:nvPr>
            <p:ph sz="half" idx="38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Inhaltsplatzhalter 22"/>
          <p:cNvSpPr>
            <a:spLocks noGrp="1"/>
          </p:cNvSpPr>
          <p:nvPr>
            <p:ph sz="half" idx="39" hasCustomPrompt="1"/>
          </p:nvPr>
        </p:nvSpPr>
        <p:spPr>
          <a:xfrm>
            <a:off x="0" y="3420000"/>
            <a:ext cx="2736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691910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3229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2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212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3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230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4" name="Bildplatzhalter 4"/>
          <p:cNvSpPr>
            <a:spLocks noGrp="1"/>
          </p:cNvSpPr>
          <p:nvPr>
            <p:ph type="pic" sz="quarter" idx="32"/>
          </p:nvPr>
        </p:nvSpPr>
        <p:spPr>
          <a:xfrm>
            <a:off x="208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5" name="Bildplatzhalter 4"/>
          <p:cNvSpPr>
            <a:spLocks noGrp="1"/>
          </p:cNvSpPr>
          <p:nvPr>
            <p:ph type="pic" sz="quarter" idx="33"/>
          </p:nvPr>
        </p:nvSpPr>
        <p:spPr>
          <a:xfrm>
            <a:off x="226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82174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102573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88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17"/>
          <p:cNvSpPr>
            <a:spLocks noGrp="1"/>
          </p:cNvSpPr>
          <p:nvPr>
            <p:ph sz="half" idx="34" hasCustomPrompt="1"/>
          </p:nvPr>
        </p:nvSpPr>
        <p:spPr>
          <a:xfrm>
            <a:off x="0" y="2538000"/>
            <a:ext cx="270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8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414074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10" name="Textfeld 9"/>
          <p:cNvSpPr txBox="1"/>
          <p:nvPr userDrawn="1"/>
        </p:nvSpPr>
        <p:spPr>
          <a:xfrm rot="20390563">
            <a:off x="3745193" y="2430129"/>
            <a:ext cx="1525648" cy="1323439"/>
          </a:xfrm>
          <a:prstGeom prst="rect">
            <a:avLst/>
          </a:prstGeom>
          <a:solidFill>
            <a:srgbClr val="F4F4F4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de-CH" sz="8000" dirty="0">
                <a:solidFill>
                  <a:srgbClr val="8E8E8E"/>
                </a:solidFill>
              </a:rPr>
              <a:t>?</a:t>
            </a:r>
            <a:endParaRPr lang="en-US" sz="8000" dirty="0">
              <a:solidFill>
                <a:srgbClr val="8E8E8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10396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156746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26" Type="http://schemas.openxmlformats.org/officeDocument/2006/relationships/slideLayout" Target="../slideLayouts/slideLayout29.xml"/><Relationship Id="rId21" Type="http://schemas.openxmlformats.org/officeDocument/2006/relationships/slideLayout" Target="../slideLayouts/slideLayout24.xml"/><Relationship Id="rId34" Type="http://schemas.openxmlformats.org/officeDocument/2006/relationships/slideLayout" Target="../slideLayouts/slideLayout37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5" Type="http://schemas.openxmlformats.org/officeDocument/2006/relationships/slideLayout" Target="../slideLayouts/slideLayout28.xml"/><Relationship Id="rId3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3.xml"/><Relationship Id="rId29" Type="http://schemas.openxmlformats.org/officeDocument/2006/relationships/slideLayout" Target="../slideLayouts/slideLayout3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24" Type="http://schemas.openxmlformats.org/officeDocument/2006/relationships/slideLayout" Target="../slideLayouts/slideLayout27.xml"/><Relationship Id="rId32" Type="http://schemas.openxmlformats.org/officeDocument/2006/relationships/slideLayout" Target="../slideLayouts/slideLayout35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23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31.xml"/><Relationship Id="rId36" Type="http://schemas.openxmlformats.org/officeDocument/2006/relationships/theme" Target="../theme/theme2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34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Relationship Id="rId22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8.xml"/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 der Vorlesung»</a:t>
            </a:r>
          </a:p>
        </p:txBody>
      </p:sp>
      <p:cxnSp>
        <p:nvCxnSpPr>
          <p:cNvPr id="3" name="Gerader Verbinder 2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6643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789" r:id="rId2"/>
    <p:sldLayoutId id="2147483792" r:id="rId3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idx="1"/>
          </p:nvPr>
        </p:nvSpPr>
        <p:spPr>
          <a:xfrm>
            <a:off x="360000" y="1080000"/>
            <a:ext cx="8424000" cy="3456000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/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Fußzeilenplatzhalter 15"/>
          <p:cNvSpPr>
            <a:spLocks noGrp="1"/>
          </p:cNvSpPr>
          <p:nvPr>
            <p:ph type="ftr" sz="quarter" idx="3"/>
          </p:nvPr>
        </p:nvSpPr>
        <p:spPr>
          <a:xfrm>
            <a:off x="359532" y="4860000"/>
            <a:ext cx="7992888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17" name="Foliennummernplatzhalter 16"/>
          <p:cNvSpPr>
            <a:spLocks noGrp="1"/>
          </p:cNvSpPr>
          <p:nvPr>
            <p:ph type="sldNum" sz="quarter" idx="4"/>
          </p:nvPr>
        </p:nvSpPr>
        <p:spPr>
          <a:xfrm>
            <a:off x="8388000" y="4860000"/>
            <a:ext cx="396000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r Verbinder 9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187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0" r:id="rId2"/>
    <p:sldLayoutId id="2147483796" r:id="rId3"/>
    <p:sldLayoutId id="2147483798" r:id="rId4"/>
    <p:sldLayoutId id="2147483804" r:id="rId5"/>
    <p:sldLayoutId id="2147483805" r:id="rId6"/>
    <p:sldLayoutId id="2147483806" r:id="rId7"/>
    <p:sldLayoutId id="2147483797" r:id="rId8"/>
    <p:sldLayoutId id="2147483799" r:id="rId9"/>
    <p:sldLayoutId id="2147483801" r:id="rId10"/>
    <p:sldLayoutId id="2147483800" r:id="rId11"/>
    <p:sldLayoutId id="2147483802" r:id="rId12"/>
    <p:sldLayoutId id="2147483803" r:id="rId13"/>
    <p:sldLayoutId id="2147483807" r:id="rId14"/>
    <p:sldLayoutId id="2147483808" r:id="rId15"/>
    <p:sldLayoutId id="2147483809" r:id="rId16"/>
    <p:sldLayoutId id="2147483810" r:id="rId17"/>
    <p:sldLayoutId id="2147483811" r:id="rId18"/>
    <p:sldLayoutId id="2147483812" r:id="rId19"/>
    <p:sldLayoutId id="2147483813" r:id="rId20"/>
    <p:sldLayoutId id="2147483814" r:id="rId21"/>
    <p:sldLayoutId id="2147483816" r:id="rId22"/>
    <p:sldLayoutId id="2147483815" r:id="rId23"/>
    <p:sldLayoutId id="2147483818" r:id="rId24"/>
    <p:sldLayoutId id="2147483824" r:id="rId25"/>
    <p:sldLayoutId id="2147483820" r:id="rId26"/>
    <p:sldLayoutId id="2147483826" r:id="rId27"/>
    <p:sldLayoutId id="2147483817" r:id="rId28"/>
    <p:sldLayoutId id="2147483821" r:id="rId29"/>
    <p:sldLayoutId id="2147483819" r:id="rId30"/>
    <p:sldLayoutId id="2147483822" r:id="rId31"/>
    <p:sldLayoutId id="2147483823" r:id="rId32"/>
    <p:sldLayoutId id="2147483827" r:id="rId33"/>
    <p:sldLayoutId id="2147483825" r:id="rId34"/>
    <p:sldLayoutId id="2147483828" r:id="rId35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«Bedankung»</a:t>
            </a:r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485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795" r:id="rId2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s.statcounter.com/os-market-share/mobile/worldwide?utm_source=chatgpt.com" TargetMode="External"/><Relationship Id="rId2" Type="http://schemas.openxmlformats.org/officeDocument/2006/relationships/hyperlink" Target="https://www.techinsideout.co/inside/security-vulnerabilities-found-in-over-60-of-android-apps" TargetMode="Externa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1400" noProof="0" dirty="0"/>
              <a:t>BA Thesis Presentation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noProof="0" dirty="0"/>
              <a:t>Development of a Reference Application for the OWASP Mobile Application Security Testing Guide (MASTG)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noProof="0" dirty="0"/>
              <a:t>Dominic Kronig, Software Engineering Group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noProof="0" dirty="0"/>
              <a:t>10.02.2026 Engehalde Bern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19877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C0B43-F179-B9EA-5BC2-AC64C53C4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28AAE82-5705-88C1-DFD7-2111C4466EB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Android Dominance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60CD8EF-51C5-1A60-57E4-1A1487E62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138B486-AD16-7820-CE66-39306F42B7B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Android most dominant mobile market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Light revie</a:t>
            </a:r>
            <a:r>
              <a:rPr lang="en-US" dirty="0"/>
              <a:t>w process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Vulnerabilities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5122B93-6A45-5D57-F0FF-D45161742E9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(StatCounter Global Stats, 2026)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4FF6A07-D61D-B2E2-FF8B-24C8FDEA4F3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“Today I will be discussing Android vulnerabilities with you”</a:t>
            </a:r>
          </a:p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1953284-D2EF-DC4C-6B36-1B5EC4DCC6D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</a:t>
            </a:fld>
            <a:endParaRPr lang="en-US" noProof="0" dirty="0"/>
          </a:p>
        </p:txBody>
      </p:sp>
      <p:pic>
        <p:nvPicPr>
          <p:cNvPr id="15" name="Grafik 14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70273F15-B74A-4897-5C7A-5CC08C6231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6429" y="1866764"/>
            <a:ext cx="5297571" cy="2628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573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3C649-A065-94A4-87F8-C85A835E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6DD2D80-44A2-8A1C-ECA2-7438E274CDC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The Problem in Numbers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B5B7182-626D-ADB5-8EF0-12B380EC1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53BDCC9-CE0B-EC6B-127C-8905DADF417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How many security vulnerabilities per app?</a:t>
            </a:r>
          </a:p>
          <a:p>
            <a:pPr marL="0" indent="0">
              <a:lnSpc>
                <a:spcPct val="150000"/>
              </a:lnSpc>
              <a:buNone/>
            </a:pPr>
            <a:endParaRPr lang="en-US" i="1" noProof="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/>
              <a:t> Around 5?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/>
              <a:t>Around 15?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/>
              <a:t>More than 30?</a:t>
            </a:r>
          </a:p>
          <a:p>
            <a:pPr marL="0" indent="0">
              <a:lnSpc>
                <a:spcPct val="150000"/>
              </a:lnSpc>
              <a:buNone/>
            </a:pPr>
            <a:endParaRPr lang="en-US" i="1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75658E8-9AFA-2BA0-EB1E-60E04EE477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B5BF31B-4D5B-148B-110D-86370A01BC4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065102-05C5-04AF-F414-D81CC3006C2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24516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60A0-D67C-A722-3DAB-AA33D708D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45C3CB5-A282-30D8-22A2-FD1E1FF7F3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5043144B-0AA1-C080-E282-449EFCCF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A742AD-C2CF-78CE-281C-ABD846F3CB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(Ferrari et al., 2025; Tech Inside Out 20</a:t>
            </a:r>
            <a:r>
              <a:rPr lang="en-US" dirty="0"/>
              <a:t>21</a:t>
            </a:r>
            <a:r>
              <a:rPr lang="en-US" noProof="0" dirty="0"/>
              <a:t>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040E96-317A-C10D-4B2B-31D6C089B9D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1FC7BB2-8FB3-9A88-4C83-5936E9011C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ADA47EF-7EB6-938E-6E09-56430F4CA70D}"/>
              </a:ext>
            </a:extLst>
          </p:cNvPr>
          <p:cNvSpPr txBox="1"/>
          <p:nvPr/>
        </p:nvSpPr>
        <p:spPr>
          <a:xfrm>
            <a:off x="1331640" y="2088634"/>
            <a:ext cx="1952275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39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vulnerabilities per app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F023A3C-46D8-3046-6EBE-17844C562EB6}"/>
              </a:ext>
            </a:extLst>
          </p:cNvPr>
          <p:cNvSpPr txBox="1"/>
          <p:nvPr/>
        </p:nvSpPr>
        <p:spPr>
          <a:xfrm>
            <a:off x="5076056" y="2073246"/>
            <a:ext cx="219624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r>
              <a:rPr lang="en-US" sz="8000" noProof="0" dirty="0">
                <a:solidFill>
                  <a:schemeClr val="bg2"/>
                </a:solidFill>
              </a:rPr>
              <a:t> </a:t>
            </a:r>
          </a:p>
          <a:p>
            <a:pPr algn="ctr"/>
            <a:r>
              <a:rPr lang="en-US" sz="1400" noProof="0" dirty="0"/>
              <a:t>apps show vulnerabilities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7B402A66-69FE-A1BE-113F-727ECEA35F08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Across the 18 most popular Android categories: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252030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895AF-1E13-4F95-3510-A872296D1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D28D3D2-AAD7-994B-3B4B-D925CB7DC1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A92B775-FB3A-1C25-67AB-45E11DE0F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0FACA18-C2C1-9216-9CA0-4AF567B00D0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(Tech Inside Out, 2021)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5532297-B65F-F8BC-F057-A6555CE8762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340D506-F0B4-B639-B109-908DD781EA3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C75C410-B305-3DDA-6EE8-82BE2B673000}"/>
              </a:ext>
            </a:extLst>
          </p:cNvPr>
          <p:cNvSpPr txBox="1"/>
          <p:nvPr/>
        </p:nvSpPr>
        <p:spPr>
          <a:xfrm>
            <a:off x="603501" y="2104080"/>
            <a:ext cx="25202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88</a:t>
            </a:r>
            <a:r>
              <a:rPr lang="en-US" sz="6000" noProof="0" dirty="0">
                <a:solidFill>
                  <a:schemeClr val="bg2"/>
                </a:solidFill>
              </a:rPr>
              <a:t>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dirty="0"/>
              <a:t>o</a:t>
            </a:r>
            <a:r>
              <a:rPr lang="en-US" sz="1400" noProof="0" dirty="0"/>
              <a:t>f banking apps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CBD5C03-9080-2D9D-52F3-0D7FF6D02069}"/>
              </a:ext>
            </a:extLst>
          </p:cNvPr>
          <p:cNvSpPr txBox="1"/>
          <p:nvPr/>
        </p:nvSpPr>
        <p:spPr>
          <a:xfrm>
            <a:off x="3473878" y="2104079"/>
            <a:ext cx="176419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84</a:t>
            </a:r>
            <a:r>
              <a:rPr lang="en-US" sz="6000" noProof="0" dirty="0">
                <a:solidFill>
                  <a:schemeClr val="bg2"/>
                </a:solidFill>
              </a:rPr>
              <a:t>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dirty="0"/>
              <a:t>o</a:t>
            </a:r>
            <a:r>
              <a:rPr lang="en-US" sz="1400" noProof="0" dirty="0"/>
              <a:t>f budgeting apps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B3581055-F592-898C-0CF6-C010C6EB0A61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In terms of financial apps: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51A636E-33E1-8457-116D-C5FF05D1995E}"/>
              </a:ext>
            </a:extLst>
          </p:cNvPr>
          <p:cNvSpPr txBox="1"/>
          <p:nvPr/>
        </p:nvSpPr>
        <p:spPr>
          <a:xfrm>
            <a:off x="6015955" y="2355726"/>
            <a:ext cx="23004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80%</a:t>
            </a:r>
          </a:p>
          <a:p>
            <a:pPr algn="ctr"/>
            <a:r>
              <a:rPr lang="en-US" sz="1400" dirty="0"/>
              <a:t>of payment apps</a:t>
            </a:r>
            <a:endParaRPr lang="en-US" sz="1400" noProof="0" dirty="0"/>
          </a:p>
        </p:txBody>
      </p:sp>
    </p:spTree>
    <p:extLst>
      <p:ext uri="{BB962C8B-B14F-4D97-AF65-F5344CB8AC3E}">
        <p14:creationId xmlns:p14="http://schemas.microsoft.com/office/powerpoint/2010/main" val="248474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50C99-124A-67D2-EF47-1F37253D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A04CAC0-6033-2AB6-1F69-3CF95F0B90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9F7D56-4C24-5A78-5495-4FEBFAB14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2AE9B35-6ADA-EB0B-B238-6F84CBA250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(Ferrari et al., 2025; Stevenson &amp; Das, 2025 )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CDD032C-8AA8-3676-6FB4-7121AB69D8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569033-5D13-719B-5E32-3A438F1059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54420CC-8A34-AF05-DE90-2E6363180B93}"/>
              </a:ext>
            </a:extLst>
          </p:cNvPr>
          <p:cNvSpPr txBox="1"/>
          <p:nvPr/>
        </p:nvSpPr>
        <p:spPr>
          <a:xfrm>
            <a:off x="603501" y="2104080"/>
            <a:ext cx="25202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50%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use deprecated cryptography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42E64F4-CD40-B83C-62ED-71C96C8AA93E}"/>
              </a:ext>
            </a:extLst>
          </p:cNvPr>
          <p:cNvSpPr txBox="1"/>
          <p:nvPr/>
        </p:nvSpPr>
        <p:spPr>
          <a:xfrm>
            <a:off x="3473878" y="2104079"/>
            <a:ext cx="176419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25%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access GPS data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D12E1EB5-5188-B382-5623-886E44E5A49F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Of 272 mobile health apps in the US: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884E02C-C233-0BFD-0D4A-84AE1CE6FD4E}"/>
              </a:ext>
            </a:extLst>
          </p:cNvPr>
          <p:cNvSpPr txBox="1"/>
          <p:nvPr/>
        </p:nvSpPr>
        <p:spPr>
          <a:xfrm>
            <a:off x="6015955" y="2355726"/>
            <a:ext cx="23004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42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transmit unencrypted data</a:t>
            </a:r>
          </a:p>
        </p:txBody>
      </p:sp>
    </p:spTree>
    <p:extLst>
      <p:ext uri="{BB962C8B-B14F-4D97-AF65-F5344CB8AC3E}">
        <p14:creationId xmlns:p14="http://schemas.microsoft.com/office/powerpoint/2010/main" val="2084813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196FE-28C1-0EB1-1B63-38103B8B7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1BEA3D-BF86-9C8E-ACF8-54A5E5C77AC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1DB040A-2EBC-0C1B-6661-5695E9DAB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AEF5994-AB60-B71F-38F7-11DBF1BF471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CF08163-F9EB-4A62-6E1A-03D1B6FA432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EF4182B-0650-3ABB-177A-BAE527E8EF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DF15101C-F91B-BCF4-F6CE-ED0794DA7FCA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What to do?</a:t>
            </a:r>
          </a:p>
          <a:p>
            <a:pPr>
              <a:lnSpc>
                <a:spcPct val="150000"/>
              </a:lnSpc>
            </a:pPr>
            <a:r>
              <a:rPr lang="en-US" dirty="0"/>
              <a:t>Find existing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Prevent new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3037396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E7E38-6FC8-9A74-E751-F1897FBC5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4B5DFD8-752C-5E56-6239-6D4C25EE2E8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F9D07BF-5DBF-E345-2C97-A0E806540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EF38F34-7DAE-CD2D-75EC-E4D6B16DAB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(Ferrari et al., 2025; Stevenson &amp; Das, 2025 )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BD8CA02-8B3F-C3DC-1651-B2874A4B56D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80BDC00-4339-00C2-BCB5-570591089C2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918A12C-3BF3-B9BF-CD24-A6E3D72E5931}"/>
              </a:ext>
            </a:extLst>
          </p:cNvPr>
          <p:cNvSpPr txBox="1"/>
          <p:nvPr/>
        </p:nvSpPr>
        <p:spPr>
          <a:xfrm>
            <a:off x="1691680" y="1995686"/>
            <a:ext cx="187220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78%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of developers lacked </a:t>
            </a:r>
          </a:p>
          <a:p>
            <a:pPr algn="ctr"/>
            <a:r>
              <a:rPr lang="en-US" sz="1400" noProof="0" dirty="0"/>
              <a:t>security knowledge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46C40631-22F1-001C-5473-F4A3A007657A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Study’s show: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2C942AF-2AFD-21B0-BDBD-6A6BCEDA314B}"/>
              </a:ext>
            </a:extLst>
          </p:cNvPr>
          <p:cNvSpPr txBox="1"/>
          <p:nvPr/>
        </p:nvSpPr>
        <p:spPr>
          <a:xfrm>
            <a:off x="4896036" y="2317770"/>
            <a:ext cx="258849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of developers cite security</a:t>
            </a:r>
          </a:p>
          <a:p>
            <a:pPr algn="ctr"/>
            <a:r>
              <a:rPr lang="en-US" sz="1400" noProof="0" dirty="0"/>
              <a:t>as too complex and expensive</a:t>
            </a:r>
          </a:p>
        </p:txBody>
      </p:sp>
    </p:spTree>
    <p:extLst>
      <p:ext uri="{BB962C8B-B14F-4D97-AF65-F5344CB8AC3E}">
        <p14:creationId xmlns:p14="http://schemas.microsoft.com/office/powerpoint/2010/main" val="2572521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6E493-D649-34E8-E570-3502344C0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60AD66D-C581-3DA7-982B-417BFBD86B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Goals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814E22-F69A-CA21-5C8C-3E380C88B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680B43A-9C6B-9151-C931-B3C7E1C361F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Lack of knowledge…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…make </a:t>
            </a:r>
            <a:r>
              <a:rPr lang="en-US" b="1" dirty="0"/>
              <a:t>mobile security knowledge</a:t>
            </a:r>
            <a:r>
              <a:rPr lang="en-US" dirty="0"/>
              <a:t> more accessible</a:t>
            </a:r>
          </a:p>
          <a:p>
            <a:pPr marL="0" indent="0">
              <a:lnSpc>
                <a:spcPct val="150000"/>
              </a:lnSpc>
              <a:buNone/>
            </a:pPr>
            <a:endParaRPr lang="en-US" noProof="0" dirty="0"/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Too complex and expensive…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…benchmark and promote the best </a:t>
            </a:r>
            <a:r>
              <a:rPr lang="en-US" b="1" dirty="0"/>
              <a:t>security testing tools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F435CE5-4782-B948-3622-F9540ABEE29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DCCB078-8EE6-A119-C9CB-A81EC3D24C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80B1645-1480-DFCD-D2F9-2F4F018EE6A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43694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38361-CB1A-356C-FB9D-8009EE0B1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0D28B7-7496-B2C5-2B11-4E2C16B57E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Mobile Security Knowledge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4A58033-1F69-CEE3-7731-CA538AB11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63B56FC-3291-C362-438D-C8910CCCD8D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Make mobile security knowledge more accessible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OWASP (MASTG)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MASTG reference apps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Lack of coverage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C49F020-5EA0-7EC7-C7AD-C23FCEB88D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25800FB-27EF-77D8-02F8-FED4CFF6640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9478A35-B338-4E2F-E8A9-6CBE4FFD237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60209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2B11E-9674-7AB8-C228-291A6DDF1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1A54E8B1-5D1E-34CB-FDA8-35AD55E9F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338A819-2FC9-5004-C0CA-F51549C5989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Promote best security testing tools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Tools for vulnerability detection</a:t>
            </a:r>
          </a:p>
          <a:p>
            <a:pPr>
              <a:lnSpc>
                <a:spcPct val="150000"/>
              </a:lnSpc>
            </a:pPr>
            <a:r>
              <a:rPr lang="en-US" b="1" dirty="0"/>
              <a:t>S</a:t>
            </a:r>
            <a:r>
              <a:rPr lang="en-US" dirty="0"/>
              <a:t>tatic &amp; </a:t>
            </a:r>
            <a:r>
              <a:rPr lang="en-US" b="1" dirty="0"/>
              <a:t>D</a:t>
            </a:r>
            <a:r>
              <a:rPr lang="en-US" dirty="0"/>
              <a:t>ynamic </a:t>
            </a:r>
            <a:r>
              <a:rPr lang="en-US" b="1" dirty="0"/>
              <a:t>A</a:t>
            </a:r>
            <a:r>
              <a:rPr lang="en-US" dirty="0"/>
              <a:t>pplication </a:t>
            </a:r>
            <a:r>
              <a:rPr lang="en-US" b="1" dirty="0"/>
              <a:t>S</a:t>
            </a:r>
            <a:r>
              <a:rPr lang="en-US" dirty="0"/>
              <a:t>ecurity </a:t>
            </a:r>
            <a:r>
              <a:rPr lang="en-US" b="1" dirty="0"/>
              <a:t>A</a:t>
            </a:r>
            <a:r>
              <a:rPr lang="en-US" dirty="0"/>
              <a:t>nalysis </a:t>
            </a:r>
            <a:r>
              <a:rPr lang="en-US" b="1" dirty="0"/>
              <a:t>T</a:t>
            </a:r>
            <a:r>
              <a:rPr lang="en-US" dirty="0"/>
              <a:t>esting (</a:t>
            </a:r>
            <a:r>
              <a:rPr lang="en-US" b="1" dirty="0"/>
              <a:t>SAST</a:t>
            </a:r>
            <a:r>
              <a:rPr lang="en-US" dirty="0"/>
              <a:t>, </a:t>
            </a:r>
            <a:r>
              <a:rPr lang="en-US" b="1" dirty="0"/>
              <a:t>DAST</a:t>
            </a:r>
            <a:r>
              <a:rPr lang="en-US" dirty="0"/>
              <a:t>)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Abundance of such tools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How to know which ones are good?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1B46C5-33D2-64C8-961A-18A8C5680B8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499DC6-755C-B416-6DD7-5A98C8DBDDE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DAB4CC4-6EDF-343E-6C02-77CCDA85F5C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939EF99-1679-F6D0-F2F5-CE31206A81D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Security Testing Tools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13845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6E9C4-3639-5E1B-E550-39781D41C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894F11F-C60F-4202-1093-8BD92068C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45015F5-0DD1-B6E8-FD2A-E6D6F74830C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By developing well documented MASTG apps we…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…improve educational value of OWASP MASTG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...create a benchmark for evaluating SAST &amp; DAST tools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…solve both challenges!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5FB908D-D8BF-0C0D-86D6-982D494D17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0EEAA52-275F-03EC-1ABB-F9BA0F7BB88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76F587-DA32-4C26-9E54-C563C5C41E4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7CBE579-753C-1D26-5C14-DC2F7F0F900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Our Purpose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31014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A3DB6-7C57-B148-C099-30341420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CAF3FF4-860D-11D6-0BBF-688C6A53F5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6F6823B2-233E-B344-0204-D33C3D8C4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Presentation Outline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FDDDCC1-3097-9AE7-217A-DE8C59FFD4D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Background Knowledge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Connection to Academia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State of the Art in MASTG Reference </a:t>
            </a:r>
            <a:r>
              <a:rPr lang="en-US" dirty="0"/>
              <a:t>A</a:t>
            </a:r>
            <a:r>
              <a:rPr lang="en-US" noProof="0" dirty="0" err="1"/>
              <a:t>pps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Design of </a:t>
            </a:r>
            <a:r>
              <a:rPr lang="en-US" dirty="0"/>
              <a:t>O</a:t>
            </a:r>
            <a:r>
              <a:rPr lang="en-US" noProof="0" dirty="0" err="1"/>
              <a:t>ur</a:t>
            </a:r>
            <a:r>
              <a:rPr lang="en-US" noProof="0" dirty="0"/>
              <a:t>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Results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Outlook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534549-9D65-6315-AA9C-A6A1B7CA2A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C853293-6E22-37C3-798B-7DA75E98C4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E666C26-B502-CD54-258D-FD1527F4A2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304832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20AA4-DA55-7BE9-28F8-DC5DE6E32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EE18FE0-5110-221B-5E9A-3F39AE20B52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OWASP Ecosystem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8E793A1-DC25-04B5-F11E-1AF4DEBD9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Background Knowledge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D7E1205-EBFA-81B7-68E4-06944F89FC1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92E8739-05C9-643E-6329-8C76AA742F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CC91783-C96B-0CB5-9140-6690022C945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BA30DAA-2FA0-7775-2816-7E35F3909A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14</a:t>
            </a:fld>
            <a:endParaRPr lang="en-US" noProof="0" dirty="0"/>
          </a:p>
        </p:txBody>
      </p:sp>
      <p:pic>
        <p:nvPicPr>
          <p:cNvPr id="3" name="Grafik 2" descr="Ein Bild, das Text, Grafikdesign, Buch, Design enthält.&#10;&#10;KI-generierte Inhalte können fehlerhaft sein.">
            <a:extLst>
              <a:ext uri="{FF2B5EF4-FFF2-40B4-BE49-F238E27FC236}">
                <a16:creationId xmlns:a16="http://schemas.microsoft.com/office/drawing/2014/main" id="{7F41B9A3-E85B-C6BC-33C8-A267C38BC8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7944" y="1793030"/>
            <a:ext cx="4932040" cy="2742970"/>
          </a:xfrm>
          <a:prstGeom prst="rect">
            <a:avLst/>
          </a:prstGeom>
        </p:spPr>
      </p:pic>
      <p:sp>
        <p:nvSpPr>
          <p:cNvPr id="5" name="Inhaltsplatzhalter 9">
            <a:extLst>
              <a:ext uri="{FF2B5EF4-FFF2-40B4-BE49-F238E27FC236}">
                <a16:creationId xmlns:a16="http://schemas.microsoft.com/office/drawing/2014/main" id="{3E282A58-1ECB-7B50-AE64-767C97DB40CD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b="1" noProof="0" dirty="0"/>
              <a:t>M</a:t>
            </a:r>
            <a:r>
              <a:rPr lang="en-US" noProof="0" dirty="0"/>
              <a:t>obile </a:t>
            </a:r>
            <a:r>
              <a:rPr lang="en-US" b="1" noProof="0" dirty="0"/>
              <a:t>A</a:t>
            </a:r>
            <a:r>
              <a:rPr lang="en-US" noProof="0" dirty="0"/>
              <a:t>pplication </a:t>
            </a:r>
            <a:r>
              <a:rPr lang="en-US" b="1" noProof="0" dirty="0"/>
              <a:t>S</a:t>
            </a:r>
            <a:r>
              <a:rPr lang="en-US" noProof="0" dirty="0"/>
              <a:t>ecurity project (</a:t>
            </a:r>
            <a:r>
              <a:rPr lang="en-US" b="1" noProof="0" dirty="0"/>
              <a:t>MAS</a:t>
            </a:r>
            <a:r>
              <a:rPr lang="en-US" noProof="0" dirty="0"/>
              <a:t>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Assess security standards through tests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MASVS: What to test against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MASWE: What to test for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MASTG: How to test for it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148493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E0238-FD12-B8B5-6245-B53DD25E4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6E3476D-2059-49CF-BA61-026DC8C4C42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9D09C25-DEA1-E475-00CF-92DFC174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2C4C2F1-99EA-EB79-69A3-6B4860CF226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Why do we care?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956B54C-C4A1-4D05-1591-C4C259FDC05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1260023-4C1B-18FF-8831-817A18FCA6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48258AF-B993-0756-3693-1451F585BD3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670422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AA0E9-9292-00CF-19C2-06B18A05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9D0AC68-22DF-03C3-A422-404F709D47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2A52234-3AB0-E337-8297-E5B1C052E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D2AA30C-0E1E-3C86-6CDB-B182D64B11A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Literature Review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“OWASP” &amp; “MASTG” on Google Scholar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Written in English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Published after 2023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15 Papers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3F8033-982D-063F-D0D2-5B7A79E922D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D4275D2-358A-7DCE-2EE6-BABA4E04A87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3E60019-7183-A859-8E7D-287298EB34D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77100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6AE6D-555F-5A35-2554-18A84DF37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43E294-50ED-0AE8-F066-0D6BE9E6841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87B1362-6F3D-120C-6BE7-0A0978275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586177D-F91E-4FA9-848C-79F3EC6C5C7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MAS used for evaluating real-world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Strong presence of cryptography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D2333BE-601E-7505-AE51-D0C816A9802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22C2F37-AE6B-1626-8596-6DECCEB388A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5D31D3F-0D15-5AAC-CA0B-68144C3ED16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990292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33B7E-72D3-1709-B65C-B3D8DC69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D381B2E-4AFF-D4C0-6343-A568834FB8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ED5E6CC-8E9C-6CB3-1CF2-68F978E8B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9C9BA29-3B39-660E-ABE9-71978695514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MASTG reference apps used for: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Testing tools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Comparing to real-world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48CA5CC-A51D-381C-6849-0D90C9D653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BBC15E4-EE0A-3CA4-5E66-8A0625B0233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9BAEEFB-D1F0-912C-1FBB-43BC11BF772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074218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B1F7E-92A6-4C6C-183A-68C0BC6EE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509BCEB-73EC-F2FF-D7D1-DC7CFAEB0E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Understanding the Challenge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682571B-C559-5183-3951-9894A7698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1AB05A6-B10A-4874-6B0F-21E5160E7B4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Our goal is clear: develop MASTG reference apps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What makes a good reference app?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2E852CA-1974-5955-9DD6-316FF4D74B2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4A35F96-9ACA-F8A2-CEC7-8E162B9165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AE0C18-55B9-0E93-0E77-63AD3F17D32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536233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8FFB0-9015-D5A5-681C-008FEF57C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F5923D8-3BCC-5B07-EC1B-F39C32A70A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BE2DD50-D408-7AE8-347A-8A64FFE5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151D15C-CB8A-CA6E-794D-50DF1DFC5E2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Analyze source code and documentation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Map vulnerabilities to MASWE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Explore data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Missing source code and documentation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AE9005D-2042-F804-CDA6-1D7854D2AD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0CB5406-475E-4B6B-A55A-670388A42D3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22B8BAC-0D20-9867-86A3-4402B4FE104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460854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086D-01E8-EF8E-A366-9C88BB021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48C1323-1CE5-8D56-723D-1E186BD730D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031E9E9-77B6-9FAC-3799-370FB413B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8F3FD39-A325-AE57-71B6-E5A7826E07E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Under </a:t>
            </a:r>
            <a:r>
              <a:rPr lang="en-US" b="1" dirty="0"/>
              <a:t>25</a:t>
            </a:r>
            <a:r>
              <a:rPr lang="en-US" b="1" noProof="0" dirty="0"/>
              <a:t> unique </a:t>
            </a:r>
            <a:r>
              <a:rPr lang="en-US" noProof="0" dirty="0"/>
              <a:t>apps hosted by OWASP MASTG...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…there are </a:t>
            </a:r>
            <a:r>
              <a:rPr lang="en-US" b="1" dirty="0"/>
              <a:t>18 Android </a:t>
            </a:r>
            <a:r>
              <a:rPr lang="en-US" dirty="0"/>
              <a:t>apps…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…with </a:t>
            </a:r>
            <a:r>
              <a:rPr lang="en-US" b="1" dirty="0"/>
              <a:t>12</a:t>
            </a:r>
            <a:r>
              <a:rPr lang="en-US" dirty="0"/>
              <a:t> having </a:t>
            </a:r>
            <a:r>
              <a:rPr lang="en-US" b="1" dirty="0"/>
              <a:t>source code</a:t>
            </a:r>
            <a:r>
              <a:rPr lang="en-US" dirty="0"/>
              <a:t>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…and </a:t>
            </a:r>
            <a:r>
              <a:rPr lang="en-US" b="1" dirty="0"/>
              <a:t>8 </a:t>
            </a:r>
            <a:r>
              <a:rPr lang="en-US" dirty="0"/>
              <a:t>have</a:t>
            </a:r>
            <a:r>
              <a:rPr lang="en-US" b="1" dirty="0"/>
              <a:t> vulnerability documentation </a:t>
            </a:r>
            <a:r>
              <a:rPr lang="en-US" dirty="0"/>
              <a:t>available.</a:t>
            </a:r>
          </a:p>
          <a:p>
            <a:pPr marL="0" indent="0">
              <a:lnSpc>
                <a:spcPct val="150000"/>
              </a:lnSpc>
              <a:buNone/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8BFC11F-17C3-3FFE-831E-E7BA60BC70B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FC65FEA-DCDB-3C60-8AA3-5244C3049CB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A6EF2EA-915F-5F73-F52F-6B1FE29C42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789236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7193B-18E5-03D2-58A2-BE9F93024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4F34F2-AEBB-9762-D7DC-6D1EBE53C7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Results Overview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A68EA11-9477-8242-54ED-E09A4647F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E5F774C-1E66-C857-E977-E5E06B65D10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163 implemented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42/117 MASWE vulnerability types covered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75 vulnerability types with no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37D8631-F40C-35F6-70A7-BB9A629EA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BDDC0F6-D720-7637-BBD8-88E0310663B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CE2B882-AF6C-5C5C-65CF-24423AFCC97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269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D5DEC-04F5-D8F7-910F-985C18DE5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3F2570-A9A3-6042-C006-BD91C105D9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Results Overview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6F8E6E3-A754-4021-C3AA-6813B0336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9C32563-C6BC-9021-ED34-C767BFFAFA4C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Most vulnerabilities without reference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Small group is completely overrepresented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Reflected in coverage by category as well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E71139-B34B-9880-84D1-FFF83ECA4CF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61D2100-2ED0-86C4-E3F7-58ADC89BBB0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4923D-425F-6C2D-6E61-788A63689F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158194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9C200-C32E-0A2F-B9F6-73EF7AFBE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EA6906-DE83-D868-78EC-96D02556B0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Types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B665C04-AF5B-5616-9DFA-738B89A76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61C4AA6-DE64-4849-5979-342EB940CD8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Top 10 vulnerability types account for 53.4% of all implementations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5 of category platform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3 of category storage</a:t>
            </a:r>
          </a:p>
          <a:p>
            <a:pPr>
              <a:lnSpc>
                <a:spcPct val="150000"/>
              </a:lnSpc>
            </a:pPr>
            <a:r>
              <a:rPr lang="en-US" dirty="0"/>
              <a:t>Reflects study results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02DE1F-34AD-90C9-EDBE-24BFEBAA77E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F7B802E-2DA0-812A-146C-74E3AABDBD1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15836-5613-879F-A790-692FD7D1A23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24</a:t>
            </a:fld>
            <a:endParaRPr lang="en-US" noProof="0" dirty="0"/>
          </a:p>
        </p:txBody>
      </p:sp>
      <p:pic>
        <p:nvPicPr>
          <p:cNvPr id="2" name="Inhaltsplatzhalter 2" descr="Ein Bild, das Text, Screenshot, parallel, Reihe enthält.&#10;&#10;KI-generierte Inhalte können fehlerhaft sein.">
            <a:extLst>
              <a:ext uri="{FF2B5EF4-FFF2-40B4-BE49-F238E27FC236}">
                <a16:creationId xmlns:a16="http://schemas.microsoft.com/office/drawing/2014/main" id="{7FBD92A1-B005-D63C-5EF0-A01D236A99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519" y="1774106"/>
            <a:ext cx="5501682" cy="272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0365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1BC5B-78CB-C24B-853C-6E8A26D67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52E3904-4812-C9B7-5775-5D734B0397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Categories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4B1AE32-53CC-B7F1-2010-D2EB1A2AC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E833CFD-4B51-B7FF-A14E-DE8807F4F35B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Favoring of storage and platform vulnerability types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Lack of privacy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D9BFD35-040A-29FC-8694-DBAA2AF676F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9691BB3-45EB-BDE3-3471-265F3F81407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8D5B11-6F07-5EAE-0F89-3022D9100E0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25</a:t>
            </a:fld>
            <a:endParaRPr lang="en-US" noProof="0" dirty="0"/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56FF658-159D-EA96-4349-1EE40FE88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771509"/>
            <a:ext cx="5501682" cy="2721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6157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BB663-935E-D418-D37F-9CDC31D29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7955161-BBF5-1C75-18DC-F62AEE7CA9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89DEFCC-3F7D-AEC9-6D4C-44D424BE5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1397524-03B4-9187-61DF-04916F51399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Auth and Crypto have most unrepresented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Dominance of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01A1E7-91B5-78F3-E471-1171396A468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53AFAC2-0924-DEA4-61BA-D0FA1ECA1F6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4B5349E-2C96-5882-F0EE-66BFBA34B92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26</a:t>
            </a:fld>
            <a:endParaRPr lang="en-US" noProof="0" dirty="0"/>
          </a:p>
        </p:txBody>
      </p:sp>
      <p:pic>
        <p:nvPicPr>
          <p:cNvPr id="6" name="Grafik 5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DDA69A8B-801C-26B7-1943-F53F23240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817118"/>
            <a:ext cx="5500800" cy="270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290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1ACF5-18A0-EAE5-A8C8-475B7867D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BFE2FA0-3875-E63F-A13E-92265A1C210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Take-Away Points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FB65092-B6F7-EA63-2473-E42A23A13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196EB32-07BB-9EDA-EA78-295AE111AB6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Uneven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without any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Most implementations cover the same types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All vulnerabilities should have a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307A860-3827-6F06-296E-00585923AB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D4F15AF-8828-B4E0-C81F-00B70DDD2BC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43B162-B6F0-67F0-A483-1AE252154D1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0045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C4075-1FC6-D5EE-574B-05F6521F0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42471FA-6B96-2A48-B81B-4A7D45A0B6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Significance for Our Apps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7DEFD3A-84E7-AA54-1523-4EE85251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F4E58F5-2341-2B40-98FD-A10FF5E37FB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Completely open-source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Extensive documentation</a:t>
            </a:r>
          </a:p>
          <a:p>
            <a:pPr>
              <a:lnSpc>
                <a:spcPct val="150000"/>
              </a:lnSpc>
            </a:pPr>
            <a:r>
              <a:rPr lang="en-US" dirty="0"/>
              <a:t>Vulnerabilities with no coverage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Focus on MASVS-CRYPTO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Start with MASVS-STORAGE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14A3998-2A48-183B-C336-6441A00DCC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D2F4C98-D62D-01FF-2D8E-71E2DE1EAD7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0042D3-BCD3-7C80-60EC-0EDF161535C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388177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42CDC-AE40-2043-91B5-FA9B459C8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11FF47-86F5-05D9-C898-0FD3FB1997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Modular Architecture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743DB6-A94E-34CA-ECF4-4573D0607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E2EE6E93-9B74-0C77-0E18-1F5A13D3A9E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8B0D81D-B41B-8882-1E7F-4DF1DAFA2B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A18D5A3-4CB6-5CBC-5E17-9A197AE8E98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45B65B-3FDB-635B-543E-18F97EF8639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29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19386211-C073-B58E-3A7A-CB3A32FCDB1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Multiple, modular apps design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per MASVS category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Shared resources in “</a:t>
            </a:r>
            <a:r>
              <a:rPr lang="en-US" b="1" noProof="0" dirty="0"/>
              <a:t>common</a:t>
            </a:r>
            <a:r>
              <a:rPr lang="en-US" noProof="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8491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B27A-E95C-74E1-E657-A35EA9235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9251183-A64E-C3E4-A617-E0F19B3438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Modular Architecture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06D26FC-D5D3-DCFE-69BB-EB994D68A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39FB0F4B-0604-48D6-5FA8-589883FE9B7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1DAD757-48CD-E760-F582-E81A85AB06C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4D28EB9-6470-81AE-EA64-FF03C1E7C3B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8FD7990-4D50-ECAC-CBD2-93FF4451EA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30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70CBE864-B2D8-B83A-1CD0-64CD9314F1F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Limited effect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Standalone units</a:t>
            </a:r>
          </a:p>
          <a:p>
            <a:pPr>
              <a:lnSpc>
                <a:spcPct val="150000"/>
              </a:lnSpc>
            </a:pPr>
            <a:r>
              <a:rPr lang="en-US" dirty="0"/>
              <a:t>Isolated app development &amp; testing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Limit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 scaling costs</a:t>
            </a:r>
          </a:p>
        </p:txBody>
      </p:sp>
    </p:spTree>
    <p:extLst>
      <p:ext uri="{BB962C8B-B14F-4D97-AF65-F5344CB8AC3E}">
        <p14:creationId xmlns:p14="http://schemas.microsoft.com/office/powerpoint/2010/main" val="22094126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7FA1E-341F-8BF3-B879-1323A80C7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A1168C3-B1AD-DF48-7D5C-4109B2CA5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Feature-Oriented Design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1D594F3-08DF-7CF7-3534-9A98B5D20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FE520D7-B1AD-FCFB-A875-ED1A73936F8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EDA0F28-9026-6DC5-8295-CE0F015DB41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AFDA132-BB3F-E45F-AF5D-021E19D90B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31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FFBA5577-CBEF-DDD8-0FD9-08D3116A8BFA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Feature-oriented structure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package per vulnerability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Extendable with additional logic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80AEE2CF-16CB-8619-D2D4-E1D83A1C3F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1216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597DB-ECB8-CBF5-0D14-07E3433D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A223E73-B6A5-7A24-A4FB-9E4C85937F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Feature-Oriented Design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6222B78-8354-CCA6-4C72-F34810038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3A58186-C5A9-0404-89A9-259AE96DE6C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926C68F-407B-926D-1513-2298EFE451B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DD64BA1-A8EC-B01C-2ABB-EAE316CCE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32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DD5C48E1-FD84-3344-14BF-274A0E05A90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Separation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Clean project structure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Isolated vulnerability development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B6550B34-5809-6263-E0B2-F37DA04655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5369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9B7F7-2987-5E04-D84C-4FAC83272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FF1D19E-7BB0-306B-E2A7-21DF5C5C337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Inheritance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717414E-C47E-59F9-7709-B86A86DE7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BAD108E-429F-54C7-33F7-366CE777629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7311FA4-6A87-450E-011C-2763920937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B88DAF8-E1C7-3AB9-786A-2940A9D78CC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33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335B089B-76F4-175A-A4D3-709819664C2F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All vulnerabilities share: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Login &amp; registration logic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Activity layouts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Mostly differ in encryption and storage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CE32860B-E065-EEDB-4657-C65095ACD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6353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1079F-6360-DABE-10EA-A23A9586E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C21CEE-1A91-4806-685E-615BF89707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Inheritance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9018BEC-C557-3233-FAB9-35101A766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E84C9DD-54E0-A027-D4C0-D6988AE11D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9D55E57-C163-9FD6-16D6-74415436E0F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BFE6189-F72E-0B1C-BE0E-71096166F2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34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6D07A4FF-CD36-1400-FFB8-05BBC29AD25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Reduce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Uniform formatting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0DDE39E9-0DF5-98C6-5D82-F120D0BB1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6143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E2DA2-E7DA-E0CB-91A3-BBCC1142F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B69A41C-5269-C908-DF01-8D43FD41E5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Abstract Templates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717848F-6DA8-AF9E-8A4E-B69EDC969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12011C8-D2DB-1D12-EEAA-FA05806642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3B69F2-6A45-E2DD-4729-4DAD9BE32D4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3A4457-A35A-24A9-56B9-A12B8A0AAC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35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E08FBE29-0A9B-2136-FE95-547CD4A4F357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Hooks for: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Specifying credentials file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encryption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Post registration logic</a:t>
            </a:r>
          </a:p>
        </p:txBody>
      </p:sp>
      <p:pic>
        <p:nvPicPr>
          <p:cNvPr id="10" name="Grafik 9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7623B661-7ABF-B101-0E01-F825DBAD8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2906" y="1091590"/>
            <a:ext cx="3641094" cy="3556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5929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A5CA4-64C5-7650-1AD1-BB5C56343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3BDF50A-3A9D-54A1-1FF3-007B51AFB9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Abstract Templates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76CF0BA-EEB7-1496-78DC-AD84BAC5A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66041B5-2F5A-84E7-FE51-779E7D59EC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F634A877-7806-0F14-7C8C-13C17F46DF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FFF35CB-62A4-48C5-FA8C-E3E872DF4E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36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34223479-BFE4-D526-569D-0D213A21FD2D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Hooks for: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Specifying credentials file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decryption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verification process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failed login logic</a:t>
            </a:r>
          </a:p>
        </p:txBody>
      </p:sp>
      <p:pic>
        <p:nvPicPr>
          <p:cNvPr id="5" name="Grafik 4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9798647E-AEF4-6663-479E-CF1472EF7B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08" y="1096416"/>
            <a:ext cx="4139629" cy="3542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3109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6E733-7832-5804-7FC1-5A31B1EB6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B2102DA2-5FC0-19DA-8369-12AC04B6C9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Architecture Summary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45227B0-7E12-E105-2EC8-FD9270EE5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AD81F6D-E53C-382A-ADB7-5DF0712CE77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D983D1-D00D-9A57-DDF6-46687BEB33F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CB90E0B-E2F5-5F9D-9ACA-840520605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37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E4591698-D6E5-4652-8666-21E829868FD0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One app package per vulnerability type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per vulnerability category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Resources shared by apps stored in “common” library module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All apps are independent modules of the project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templates reduce boiler plate code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59218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C30F-C25B-7073-3A1B-166046574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D60D8A2-CAC1-F1D4-4407-CDABBAF2AD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Overview of Our Apps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7445F2-BA2E-405F-D428-A101D5485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A8EAE79-55D3-0EEA-7F7A-4174686DBD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Three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Complete coverage of MASVS-STORAGE and CRYPTO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1972BDC-A039-337C-C4D1-1A08C3B37E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0ABAD69-43AC-D932-B15F-D0E672663AF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D30E9D-0965-D08C-B126-2AD14507A20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435624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29159-1E84-C261-434B-0CC9EBBFC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F2760CC-1A5D-5656-7974-CF1C0D1DD4F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Overview of Our Apps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1AA677-696C-98F1-F2B8-1D61F5981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81B5011-1F99-CCC8-1972-FD596CA867D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25% MASWE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18/28 vulnerability types without previous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 coverage from 35.9% to 51.3%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75D1731-F918-A75F-2742-BEEC7E57553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A3BDE3-986F-DF87-D241-25242AD5B2F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5021142-9DF1-CBE6-D589-5DC8F1DD4D9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912410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4EE8D-A3F9-A17E-026A-E54B75D2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3CFD75C-28E3-802B-6BD6-DC18923526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Comparison with other MASTG Apps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5233A53-64FE-CA26-14C6-FEE787318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0CCCF5B-3D13-9BA2-D1CF-0A198C4D801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Largest contribution to crypto category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A29B60F-0C6A-26D2-D7BB-9FE0D1A76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89867BC0-A9AD-6CAE-A20C-B360213BE70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CCCB0FA-F845-B5B9-FB50-83C6DDB4FB9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40</a:t>
            </a:fld>
            <a:endParaRPr lang="en-US" noProof="0" dirty="0"/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C248F9D5-5A82-83F9-3F7E-8FCF1E3CBF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4161" y="1914334"/>
            <a:ext cx="5299839" cy="2621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9524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36EE9-C990-5FE7-041E-4F5B09E7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8E8AD95-61A2-77CD-B870-A319B7260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MobSF Static Scan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C539FA-EBDF-C1CB-E52F-738DBCDA4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D4081EF-A6FC-3D8B-48D3-79CF305C88E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Surprisingly high security scores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crypto apps deemed “low risk”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Inconsistent vulnerability detection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false positives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6E9340D-6B84-073F-A6ED-82115C9DA4D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06F3D58-BF04-8E6A-1D75-45010D651BD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0553A4-0692-4646-8E66-2D3709ED223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925134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C845-A802-16D2-D74D-E572E5983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958305D-F68E-F857-33C3-28778BE980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Semgrep Static Scan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7D00815-A5F6-BA3A-2DC4-2153B7942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6602BA-CB0E-8437-9505-F44B7F650C5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Slightly better than MobSF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Found 8 of 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Failed to flag deprecated cryptographic algorithms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AE5507F-3E4F-A073-9302-391F8C17E4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EF794A-1D62-9F28-8543-EEA1BA5326A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5AB2E62-B7C3-C2AB-23F5-0D2D3381EE0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098848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50EDE-EE95-0801-9755-C57819655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67E9F36-AB03-5D9B-790C-7E639B94B1B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Benchmarking Security Testing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2D9B01-8A0B-5E40-AE47-13BF3F7F2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3692E1F-15B6-D264-0E11-C5078E79CAB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Natural next step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Combine our apps with others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Compare with existing benchmarks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0F4C412-038E-2975-D816-78E0184B99D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76C700E-5399-7EEF-44D1-D7552BE4BCA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EE3525B-883D-594B-F2F3-F659A70B8B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704940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C20D1-57AD-F86B-8489-2E358DBA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BC522CA-53F3-CF17-D887-15142CFA62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Moving on to new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2C73E22-8B82-ACD5-F51B-91C6C2328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7E0469D-A9A0-891B-56B2-8C2813618A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Only 60/117 (51.3%) of MASWE vulnerabilities implemented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Privacy and auth still neglected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Important for both educational and benchmarking reasons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87CF201-DD73-C415-69E7-FDFA415984C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BCE4A2C-39BD-750B-36BB-9ED30109D8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D203937-AC8A-A182-F4CA-779A591EF26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407827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06658-C64B-727A-C917-DF1C65DEB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04FB0D8-06A6-E6A4-A68C-6FEA848427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Summary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8D42EF4-F7E4-ABF1-5A37-7372FDFD4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Conclusion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CCB19F-5FB3-2FAE-6453-A947D02CDEB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Identified weaknesses of MASTG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Addressed them in a scalable and expandable way</a:t>
            </a:r>
          </a:p>
          <a:p>
            <a:pPr>
              <a:lnSpc>
                <a:spcPct val="150000"/>
              </a:lnSpc>
            </a:pPr>
            <a:r>
              <a:rPr lang="en-US" dirty="0"/>
              <a:t>Increased coverage of MASVS categories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Built basis of MASTG tool testing benchmark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B13DC48-4D06-62BA-9044-960EEAFC99B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4D849F9-7D87-6DF0-A011-CB0FBE4440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B518C4-A397-D4CE-873C-C005032112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590886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26741-3378-C652-CE5A-22458AF97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DAE21F1-DBDB-D981-0000-1A25FE77DA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499ECD8-21A2-F69E-66D9-542B96724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Questions?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F0209AC3-6152-2EC3-7B08-D60F78315CD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0BE445A-0BE1-E0F9-67B0-0905722B74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971C164-8476-F507-D597-E6464C90C2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0144C54-2894-0BD1-A93A-F2A240659B3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2059270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30BC-8D2B-ABCB-ACED-04C90168D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6E4CD39-2B77-CB65-587D-23DC5FCD00B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5F56EE2-9D2F-E529-5DB3-123FF3991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References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0446F2-8F46-FEEF-30D8-7C2D36877AF0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400" dirty="0"/>
              <a:t>Tech Inside Out. (2021, August 2). </a:t>
            </a:r>
            <a:r>
              <a:rPr lang="en-US" sz="1400" i="1" dirty="0"/>
              <a:t>Security vulnerabilities found in over 60% of Android apps</a:t>
            </a:r>
            <a:r>
              <a:rPr lang="en-US" sz="1400" dirty="0"/>
              <a:t>. </a:t>
            </a:r>
            <a:r>
              <a:rPr lang="en-US" sz="1400" dirty="0">
                <a:hlinkClick r:id="rId2"/>
              </a:rPr>
              <a:t>https://www.techinsideout.co/inside/security-vulnerabilities-found-in-over-60-of-android-apps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StatCounter Global Stats. (2026). </a:t>
            </a:r>
            <a:r>
              <a:rPr lang="en-US" sz="1400" i="1" dirty="0"/>
              <a:t>Mobile operating system market share worldwide</a:t>
            </a:r>
            <a:r>
              <a:rPr lang="en-US" sz="1400" dirty="0"/>
              <a:t>. Retrieved February 3, 2026, from </a:t>
            </a:r>
            <a:r>
              <a:rPr lang="en-US" sz="1400" dirty="0">
                <a:hlinkClick r:id="rId3"/>
              </a:rPr>
              <a:t>https://gs.statcounter.com/os-market-share/mobile/worldwide</a:t>
            </a:r>
            <a:endParaRPr lang="en-US" sz="1400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745CDA-60D0-F896-8FE0-83EF401AF55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712523-7582-2BD8-986B-62381CBC20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0CE1AF-0E44-EB91-7F41-52A6CB868F7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87579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00803-E03E-4256-407B-FAE7CDFC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1ABAB7-4944-26AF-8D85-744ECD9FD4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57B34DA-F6BC-04E0-7981-3F7D556C0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DA1CC60-ABE8-FA5B-30CF-E47720B805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CF5D1FE-ADE6-CCE1-EE0E-EF9EF886F6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D3BC772-1808-72C0-840C-4671D66F866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AB3C26B-0B46-9A09-B6C8-9B7226ECB05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27944303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220B11A5-9FBE-4BE8-88F7-F6586911FCB9}"/>
    </a:ext>
  </a:extLst>
</a:theme>
</file>

<file path=ppt/theme/theme2.xml><?xml version="1.0" encoding="utf-8"?>
<a:theme xmlns:a="http://schemas.openxmlformats.org/drawingml/2006/main" name="1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B4599F3B-7FCE-492B-8B3D-887A710F2678}"/>
    </a:ext>
  </a:extLst>
</a:theme>
</file>

<file path=ppt/theme/theme3.xml><?xml version="1.0" encoding="utf-8"?>
<a:theme xmlns:a="http://schemas.openxmlformats.org/drawingml/2006/main" name="End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4527320C-C198-40CD-B0BF-F9ABCAA7BE5F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UniBE - Vorlage Praesentationen</Template>
  <TotalTime>0</TotalTime>
  <Words>1275</Words>
  <Application>Microsoft Office PowerPoint</Application>
  <PresentationFormat>Bildschirmpräsentation (16:9)</PresentationFormat>
  <Paragraphs>324</Paragraphs>
  <Slides>48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48</vt:i4>
      </vt:variant>
    </vt:vector>
  </HeadingPairs>
  <TitlesOfParts>
    <vt:vector size="55" baseType="lpstr">
      <vt:lpstr>Arial</vt:lpstr>
      <vt:lpstr>Calibri</vt:lpstr>
      <vt:lpstr>Symbol</vt:lpstr>
      <vt:lpstr>Wingdings</vt:lpstr>
      <vt:lpstr>3_Office</vt:lpstr>
      <vt:lpstr>1_Office</vt:lpstr>
      <vt:lpstr>Ende</vt:lpstr>
      <vt:lpstr>Development of a Reference Application for the OWASP Mobile Application Security Testing Guide (MASTG)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Understanding the Challenge</vt:lpstr>
      <vt:lpstr>Understanding the Challenge</vt:lpstr>
      <vt:lpstr>Understanding the Challenge</vt:lpstr>
      <vt:lpstr>Understanding the Challenge</vt:lpstr>
      <vt:lpstr>Presentation Outline</vt:lpstr>
      <vt:lpstr>Background Knowledge</vt:lpstr>
      <vt:lpstr>Connection to Academia</vt:lpstr>
      <vt:lpstr>Connection to Academia</vt:lpstr>
      <vt:lpstr>Connection to Academia</vt:lpstr>
      <vt:lpstr>Connection to Academia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Results</vt:lpstr>
      <vt:lpstr>Results</vt:lpstr>
      <vt:lpstr>Results</vt:lpstr>
      <vt:lpstr>Results</vt:lpstr>
      <vt:lpstr>Results</vt:lpstr>
      <vt:lpstr>Outlook</vt:lpstr>
      <vt:lpstr>Outlook</vt:lpstr>
      <vt:lpstr>Conclusion</vt:lpstr>
      <vt:lpstr>Questions?</vt:lpstr>
      <vt:lpstr>References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Scholl, André (IWI)</dc:creator>
  <cp:lastModifiedBy>Kronig, Dominic Fabian (STUDENTS)</cp:lastModifiedBy>
  <cp:revision>294</cp:revision>
  <dcterms:created xsi:type="dcterms:W3CDTF">2021-06-29T15:00:13Z</dcterms:created>
  <dcterms:modified xsi:type="dcterms:W3CDTF">2026-02-03T17:52:35Z</dcterms:modified>
</cp:coreProperties>
</file>
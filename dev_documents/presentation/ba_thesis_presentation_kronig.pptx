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2.xml" ContentType="application/vnd.openxmlformats-officedocument.theme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8" r:id="rId1"/>
    <p:sldMasterId id="2147483738" r:id="rId2"/>
    <p:sldMasterId id="2147483793" r:id="rId3"/>
  </p:sldMasterIdLst>
  <p:notesMasterIdLst>
    <p:notesMasterId r:id="rId49"/>
  </p:notesMasterIdLst>
  <p:handoutMasterIdLst>
    <p:handoutMasterId r:id="rId50"/>
  </p:handoutMasterIdLst>
  <p:sldIdLst>
    <p:sldId id="256" r:id="rId4"/>
    <p:sldId id="319" r:id="rId5"/>
    <p:sldId id="312" r:id="rId6"/>
    <p:sldId id="313" r:id="rId7"/>
    <p:sldId id="314" r:id="rId8"/>
    <p:sldId id="315" r:id="rId9"/>
    <p:sldId id="316" r:id="rId10"/>
    <p:sldId id="317" r:id="rId11"/>
    <p:sldId id="290" r:id="rId12"/>
    <p:sldId id="291" r:id="rId13"/>
    <p:sldId id="274" r:id="rId14"/>
    <p:sldId id="262" r:id="rId15"/>
    <p:sldId id="273" r:id="rId16"/>
    <p:sldId id="275" r:id="rId17"/>
    <p:sldId id="263" r:id="rId18"/>
    <p:sldId id="277" r:id="rId19"/>
    <p:sldId id="276" r:id="rId20"/>
    <p:sldId id="278" r:id="rId21"/>
    <p:sldId id="292" r:id="rId22"/>
    <p:sldId id="281" r:id="rId23"/>
    <p:sldId id="286" r:id="rId24"/>
    <p:sldId id="287" r:id="rId25"/>
    <p:sldId id="288" r:id="rId26"/>
    <p:sldId id="289" r:id="rId27"/>
    <p:sldId id="264" r:id="rId28"/>
    <p:sldId id="293" r:id="rId29"/>
    <p:sldId id="294" r:id="rId30"/>
    <p:sldId id="296" r:id="rId31"/>
    <p:sldId id="297" r:id="rId32"/>
    <p:sldId id="298" r:id="rId33"/>
    <p:sldId id="299" r:id="rId34"/>
    <p:sldId id="300" r:id="rId35"/>
    <p:sldId id="295" r:id="rId36"/>
    <p:sldId id="282" r:id="rId37"/>
    <p:sldId id="301" r:id="rId38"/>
    <p:sldId id="302" r:id="rId39"/>
    <p:sldId id="303" r:id="rId40"/>
    <p:sldId id="283" r:id="rId41"/>
    <p:sldId id="304" r:id="rId42"/>
    <p:sldId id="305" r:id="rId43"/>
    <p:sldId id="284" r:id="rId44"/>
    <p:sldId id="285" r:id="rId45"/>
    <p:sldId id="308" r:id="rId46"/>
    <p:sldId id="307" r:id="rId47"/>
    <p:sldId id="306" r:id="rId48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EE0BF"/>
    <a:srgbClr val="BDCCD2"/>
    <a:srgbClr val="FFFFFF"/>
    <a:srgbClr val="4A8796"/>
    <a:srgbClr val="E6002E"/>
    <a:srgbClr val="F4F4F4"/>
    <a:srgbClr val="8E8E8E"/>
    <a:srgbClr val="8DABC9"/>
    <a:srgbClr val="E1EBF5"/>
    <a:srgbClr val="BED4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93D81CF-94F2-401A-BA57-92F5A7B2D0C5}" styleName="Mittlere Formatvorlag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9DCAF9ED-07DC-4A11-8D7F-57B35C25682E}" styleName="Mittlere Formatvorlage 1 - Akz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0A1B5D5-9B99-4C35-A422-299274C87663}" styleName="Mittlere Formatvorlage 1 - Akz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FECB4D8-DB02-4DC6-A0A2-4F2EBAE1DC90}" styleName="Mittlere Formatvorlage 1 - Akz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21" autoAdjust="0"/>
    <p:restoredTop sz="76855" autoAdjust="0"/>
  </p:normalViewPr>
  <p:slideViewPr>
    <p:cSldViewPr>
      <p:cViewPr varScale="1">
        <p:scale>
          <a:sx n="92" d="100"/>
          <a:sy n="92" d="100"/>
        </p:scale>
        <p:origin x="52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howGuides="1">
      <p:cViewPr varScale="1">
        <p:scale>
          <a:sx n="121" d="100"/>
          <a:sy n="121" d="100"/>
        </p:scale>
        <p:origin x="4938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50" Type="http://schemas.openxmlformats.org/officeDocument/2006/relationships/handoutMaster" Target="handoutMasters/handoutMaster1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theme" Target="theme/theme1.xml"/><Relationship Id="rId5" Type="http://schemas.openxmlformats.org/officeDocument/2006/relationships/slide" Target="slides/slide2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viewProps" Target="view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8" Type="http://schemas.openxmlformats.org/officeDocument/2006/relationships/slide" Target="slides/slide5.xml"/><Relationship Id="rId51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2B13D9-EE20-4263-A517-453A6CC03581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D6EC07-0A99-4547-B3E3-7D82A955BA1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48679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4B9E2E8-0589-406D-8FD1-7B0DBC84FBDE}" type="datetimeFigureOut">
              <a:rPr lang="de-CH" smtClean="0"/>
              <a:t>03.02.2026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801061-0450-4586-BC97-FCEC15115AD3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12552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«Name der Veranstaltung»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>
              <a:defRPr/>
            </a:lvl1pPr>
          </a:lstStyle>
          <a:p>
            <a:r>
              <a:rPr lang="de-CH" noProof="0" dirty="0"/>
              <a:t>«Titel der Vorlesung»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1260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1512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  <p:pic>
        <p:nvPicPr>
          <p:cNvPr id="7" name="Inhaltsplatzhalter 7">
            <a:extLst>
              <a:ext uri="{FF2B5EF4-FFF2-40B4-BE49-F238E27FC236}">
                <a16:creationId xmlns:a16="http://schemas.microsoft.com/office/drawing/2014/main" id="{ECF287E3-741C-004F-A0BA-1A2BA0C0FEBF}"/>
              </a:ext>
            </a:extLst>
          </p:cNvPr>
          <p:cNvPicPr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146"/>
          <a:stretch/>
        </p:blipFill>
        <p:spPr>
          <a:xfrm>
            <a:off x="0" y="2016000"/>
            <a:ext cx="9144000" cy="3127500"/>
          </a:xfrm>
          <a:prstGeom prst="rect">
            <a:avLst/>
          </a:prstGeom>
        </p:spPr>
      </p:pic>
      <p:sp>
        <p:nvSpPr>
          <p:cNvPr id="3" name="Textplatzhalter 2"/>
          <p:cNvSpPr>
            <a:spLocks noGrp="1"/>
          </p:cNvSpPr>
          <p:nvPr>
            <p:ph type="body" sz="quarter" idx="23" hasCustomPrompt="1"/>
          </p:nvPr>
        </p:nvSpPr>
        <p:spPr>
          <a:xfrm rot="20402096">
            <a:off x="3613655" y="2323187"/>
            <a:ext cx="1800225" cy="1593397"/>
          </a:xfrm>
          <a:prstGeom prst="rect">
            <a:avLst/>
          </a:prstGeom>
          <a:solidFill>
            <a:srgbClr val="F4F4F4"/>
          </a:solidFill>
        </p:spPr>
        <p:txBody>
          <a:bodyPr lIns="36000" tIns="36000" rIns="36000" bIns="36000" anchor="ctr"/>
          <a:lstStyle>
            <a:lvl1pPr marL="0" indent="0" algn="ctr" defTabSz="457200" rtl="0" eaLnBrk="1" latinLnBrk="0" hangingPunct="1">
              <a:buNone/>
              <a:defRPr lang="de-DE" sz="6000" kern="1200" dirty="0" smtClean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1pPr>
            <a:lvl2pPr marL="0" algn="ctr" defTabSz="457200" rtl="0" eaLnBrk="1" latinLnBrk="0" hangingPunct="1">
              <a:defRPr lang="de-DE" sz="8000" kern="1200" dirty="0" smtClean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2pPr>
            <a:lvl3pPr marL="0" algn="ctr" defTabSz="457200" rtl="0" eaLnBrk="1" latinLnBrk="0" hangingPunct="1">
              <a:defRPr lang="de-DE" sz="8000" kern="1200" dirty="0" smtClean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3pPr>
            <a:lvl4pPr marL="0" algn="ctr" defTabSz="457200" rtl="0" eaLnBrk="1" latinLnBrk="0" hangingPunct="1">
              <a:defRPr lang="de-DE" sz="8000" kern="1200" dirty="0" smtClean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4pPr>
            <a:lvl5pPr marL="0" algn="ctr" defTabSz="457200" rtl="0" eaLnBrk="1" latinLnBrk="0" hangingPunct="1">
              <a:defRPr lang="en-US" sz="8000" kern="1200" dirty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de-CH" dirty="0"/>
              <a:t>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39570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«Name der Veranstaltung»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>
              <a:defRPr/>
            </a:lvl1pPr>
          </a:lstStyle>
          <a:p>
            <a:r>
              <a:rPr lang="de-CH" noProof="0" dirty="0"/>
              <a:t>«Titel der Vorlesung»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0" y="2016000"/>
            <a:ext cx="9144000" cy="3127500"/>
          </a:xfrm>
          <a:prstGeom prst="rect">
            <a:avLst/>
          </a:prstGeom>
        </p:spPr>
        <p:txBody>
          <a:bodyPr lIns="36000" tIns="36000" rIns="36000" bIns="36000"/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20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«Titelbild»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1260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1512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</p:spTree>
    <p:extLst>
      <p:ext uri="{BB962C8B-B14F-4D97-AF65-F5344CB8AC3E}">
        <p14:creationId xmlns:p14="http://schemas.microsoft.com/office/powerpoint/2010/main" val="32623535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226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«Name der Veranstaltung»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>
              <a:defRPr/>
            </a:lvl1pPr>
          </a:lstStyle>
          <a:p>
            <a:r>
              <a:rPr lang="de-CH" noProof="0" dirty="0"/>
              <a:t>«Titel der Vorlesung»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2880000"/>
            <a:ext cx="7200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3132000"/>
            <a:ext cx="7200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</p:spTree>
    <p:extLst>
      <p:ext uri="{BB962C8B-B14F-4D97-AF65-F5344CB8AC3E}">
        <p14:creationId xmlns:p14="http://schemas.microsoft.com/office/powerpoint/2010/main" val="200789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</p:spTree>
    <p:extLst>
      <p:ext uri="{BB962C8B-B14F-4D97-AF65-F5344CB8AC3E}">
        <p14:creationId xmlns:p14="http://schemas.microsoft.com/office/powerpoint/2010/main" val="7558143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080000"/>
            <a:ext cx="8424467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9966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080000"/>
            <a:ext cx="4176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1080000"/>
            <a:ext cx="4176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0719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080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1332000"/>
            <a:ext cx="4176000" cy="3204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60000" y="1332000"/>
            <a:ext cx="4176000" cy="3204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4608000" y="1080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1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48993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i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2" y="1080000"/>
            <a:ext cx="8424467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2844000"/>
            <a:ext cx="8424466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6646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2" y="1332000"/>
            <a:ext cx="8424467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3096000"/>
            <a:ext cx="8424466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359533" y="1080000"/>
            <a:ext cx="8424466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359533" y="2844000"/>
            <a:ext cx="8424466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4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44167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2" y="1080000"/>
            <a:ext cx="8424467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3420000"/>
            <a:ext cx="8424466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359531" y="2250000"/>
            <a:ext cx="8424467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20106370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080000"/>
            <a:ext cx="4176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1080000"/>
            <a:ext cx="4176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2844000"/>
            <a:ext cx="4176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4608000" y="2844000"/>
            <a:ext cx="4176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3401032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332000"/>
            <a:ext cx="4176000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1332000"/>
            <a:ext cx="4176000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3096000"/>
            <a:ext cx="4176000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4608000" y="3096000"/>
            <a:ext cx="4176000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359533" y="1080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4608000" y="1080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359533" y="2844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6" name="Inhaltsplatzhalter 7"/>
          <p:cNvSpPr>
            <a:spLocks noGrp="1"/>
          </p:cNvSpPr>
          <p:nvPr>
            <p:ph sz="quarter" idx="27" hasCustomPrompt="1"/>
          </p:nvPr>
        </p:nvSpPr>
        <p:spPr>
          <a:xfrm>
            <a:off x="4608000" y="2844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</p:spTree>
    <p:extLst>
      <p:ext uri="{BB962C8B-B14F-4D97-AF65-F5344CB8AC3E}">
        <p14:creationId xmlns:p14="http://schemas.microsoft.com/office/powerpoint/2010/main" val="31906117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2016000"/>
            <a:ext cx="8424467" cy="2520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2" y="1080000"/>
            <a:ext cx="8424467" cy="900000"/>
          </a:xfr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27025173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2016000"/>
            <a:ext cx="4176000" cy="2520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2016000"/>
            <a:ext cx="4176000" cy="2520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2" y="1080000"/>
            <a:ext cx="8424467" cy="900000"/>
          </a:xfr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21282835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195736" y="1080000"/>
            <a:ext cx="6588264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359533" y="1079013"/>
            <a:ext cx="1800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23550162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359533" y="1079013"/>
            <a:ext cx="1800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195736" y="1080000"/>
            <a:ext cx="6588263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195737" y="2844000"/>
            <a:ext cx="6588262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83750279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359533" y="1079013"/>
            <a:ext cx="1800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195737" y="1080000"/>
            <a:ext cx="658826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2195737" y="3420000"/>
            <a:ext cx="6588261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2195736" y="2250000"/>
            <a:ext cx="658826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13657480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015716" y="1080000"/>
            <a:ext cx="5112568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-1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7164287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34248614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-1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7164287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015716" y="1080000"/>
            <a:ext cx="5112568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2015716" y="2844000"/>
            <a:ext cx="5112567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2153464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-1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7164287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015715" y="1080000"/>
            <a:ext cx="5112569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2015716" y="3420000"/>
            <a:ext cx="5112568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2015714" y="2250000"/>
            <a:ext cx="5112569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398186783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736204" y="1080000"/>
            <a:ext cx="36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-1" y="1080000"/>
            <a:ext cx="2699793" cy="3456000"/>
          </a:xfrm>
        </p:spPr>
        <p:txBody>
          <a:bodyPr>
            <a:normAutofit/>
          </a:bodyPr>
          <a:lstStyle>
            <a:lvl1pPr marL="216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800">
                <a:solidFill>
                  <a:schemeClr val="tx1"/>
                </a:solidFill>
              </a:defRPr>
            </a:lvl1pPr>
            <a:lvl2pPr marL="432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600">
                <a:solidFill>
                  <a:schemeClr val="tx1"/>
                </a:solidFill>
              </a:defRPr>
            </a:lvl2pPr>
            <a:lvl3pPr marL="648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864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1080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100">
                <a:solidFill>
                  <a:schemeClr val="tx1"/>
                </a:solidFill>
              </a:defRPr>
            </a:lvl5pPr>
          </a:lstStyle>
          <a:p>
            <a:pPr marL="216000" marR="0" lvl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Erste Ebene</a:t>
            </a:r>
          </a:p>
          <a:p>
            <a:pPr marL="432000" marR="0" lvl="1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Zweite Ebene</a:t>
            </a:r>
          </a:p>
          <a:p>
            <a:pPr marL="648000" marR="0" lvl="2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Dritte Ebene</a:t>
            </a:r>
          </a:p>
          <a:p>
            <a:pPr marL="864000" marR="0" lvl="3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Vierte Ebene</a:t>
            </a:r>
          </a:p>
          <a:p>
            <a:pPr marL="1080000" marR="0" lvl="4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6444508" y="1080000"/>
            <a:ext cx="2700000" cy="3456000"/>
          </a:xfrm>
        </p:spPr>
        <p:txBody>
          <a:bodyPr>
            <a:normAutofit/>
          </a:bodyPr>
          <a:lstStyle>
            <a:lvl1pPr marL="216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800">
                <a:solidFill>
                  <a:schemeClr val="tx1"/>
                </a:solidFill>
              </a:defRPr>
            </a:lvl1pPr>
            <a:lvl2pPr marL="432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600">
                <a:solidFill>
                  <a:schemeClr val="tx1"/>
                </a:solidFill>
              </a:defRPr>
            </a:lvl2pPr>
            <a:lvl3pPr marL="648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864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1080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100">
                <a:solidFill>
                  <a:schemeClr val="tx1"/>
                </a:solidFill>
              </a:defRPr>
            </a:lvl5pPr>
          </a:lstStyle>
          <a:p>
            <a:pPr marL="216000" marR="0" lvl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Erste Ebene</a:t>
            </a:r>
          </a:p>
          <a:p>
            <a:pPr marL="432000" marR="0" lvl="1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Zweite Ebene</a:t>
            </a:r>
          </a:p>
          <a:p>
            <a:pPr marL="648000" marR="0" lvl="2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Dritte Ebene</a:t>
            </a:r>
          </a:p>
          <a:p>
            <a:pPr marL="864000" marR="0" lvl="3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Vierte Ebene</a:t>
            </a:r>
          </a:p>
          <a:p>
            <a:pPr marL="1080000" marR="0" lvl="4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83775311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736204" y="1080000"/>
            <a:ext cx="36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-1" y="1080000"/>
            <a:ext cx="2699793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0" y="2844000"/>
            <a:ext cx="2699793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6444715" y="1080000"/>
            <a:ext cx="2699793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6444716" y="2844000"/>
            <a:ext cx="2699793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0796597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736204" y="1080000"/>
            <a:ext cx="36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6" name="Inhaltsplatzhalter 7"/>
          <p:cNvSpPr>
            <a:spLocks noGrp="1"/>
          </p:cNvSpPr>
          <p:nvPr>
            <p:ph sz="quarter" idx="27" hasCustomPrompt="1"/>
          </p:nvPr>
        </p:nvSpPr>
        <p:spPr>
          <a:xfrm>
            <a:off x="2" y="1080000"/>
            <a:ext cx="269969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7" name="Inhaltsplatzhalter 7"/>
          <p:cNvSpPr>
            <a:spLocks noGrp="1"/>
          </p:cNvSpPr>
          <p:nvPr>
            <p:ph sz="quarter" idx="28" hasCustomPrompt="1"/>
          </p:nvPr>
        </p:nvSpPr>
        <p:spPr>
          <a:xfrm>
            <a:off x="2" y="3420000"/>
            <a:ext cx="2699692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8" name="Inhaltsplatzhalter 7"/>
          <p:cNvSpPr>
            <a:spLocks noGrp="1"/>
          </p:cNvSpPr>
          <p:nvPr>
            <p:ph sz="quarter" idx="29" hasCustomPrompt="1"/>
          </p:nvPr>
        </p:nvSpPr>
        <p:spPr>
          <a:xfrm>
            <a:off x="1" y="2250000"/>
            <a:ext cx="269969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9" name="Inhaltsplatzhalter 7"/>
          <p:cNvSpPr>
            <a:spLocks noGrp="1"/>
          </p:cNvSpPr>
          <p:nvPr>
            <p:ph sz="quarter" idx="30" hasCustomPrompt="1"/>
          </p:nvPr>
        </p:nvSpPr>
        <p:spPr>
          <a:xfrm>
            <a:off x="6444816" y="1080000"/>
            <a:ext cx="269969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20" name="Inhaltsplatzhalter 7"/>
          <p:cNvSpPr>
            <a:spLocks noGrp="1"/>
          </p:cNvSpPr>
          <p:nvPr>
            <p:ph sz="quarter" idx="31" hasCustomPrompt="1"/>
          </p:nvPr>
        </p:nvSpPr>
        <p:spPr>
          <a:xfrm>
            <a:off x="6444816" y="3420000"/>
            <a:ext cx="2699692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22" name="Inhaltsplatzhalter 7"/>
          <p:cNvSpPr>
            <a:spLocks noGrp="1"/>
          </p:cNvSpPr>
          <p:nvPr>
            <p:ph sz="quarter" idx="32" hasCustomPrompt="1"/>
          </p:nvPr>
        </p:nvSpPr>
        <p:spPr>
          <a:xfrm>
            <a:off x="6444815" y="2250000"/>
            <a:ext cx="269969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257446133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186000" y="1080000"/>
            <a:ext cx="27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360038" y="1080000"/>
            <a:ext cx="2772000" cy="3456000"/>
          </a:xfrm>
        </p:spPr>
        <p:txBody>
          <a:bodyPr>
            <a:normAutofit/>
          </a:bodyPr>
          <a:lstStyle>
            <a:lvl1pPr marL="216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800">
                <a:solidFill>
                  <a:schemeClr val="tx1"/>
                </a:solidFill>
              </a:defRPr>
            </a:lvl1pPr>
            <a:lvl2pPr marL="432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600">
                <a:solidFill>
                  <a:schemeClr val="tx1"/>
                </a:solidFill>
              </a:defRPr>
            </a:lvl2pPr>
            <a:lvl3pPr marL="648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864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1080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100">
                <a:solidFill>
                  <a:schemeClr val="tx1"/>
                </a:solidFill>
              </a:defRPr>
            </a:lvl5pPr>
          </a:lstStyle>
          <a:p>
            <a:pPr marL="216000" marR="0" lvl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Erste Ebene</a:t>
            </a:r>
          </a:p>
          <a:p>
            <a:pPr marL="432000" marR="0" lvl="1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Zweite Ebene</a:t>
            </a:r>
          </a:p>
          <a:p>
            <a:pPr marL="648000" marR="0" lvl="2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Dritte Ebene</a:t>
            </a:r>
          </a:p>
          <a:p>
            <a:pPr marL="864000" marR="0" lvl="3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Vierte Ebene</a:t>
            </a:r>
          </a:p>
          <a:p>
            <a:pPr marL="1080000" marR="0" lvl="4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6012160" y="1080000"/>
            <a:ext cx="2772000" cy="3456000"/>
          </a:xfrm>
        </p:spPr>
        <p:txBody>
          <a:bodyPr>
            <a:normAutofit/>
          </a:bodyPr>
          <a:lstStyle>
            <a:lvl1pPr marL="216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800">
                <a:solidFill>
                  <a:schemeClr val="tx1"/>
                </a:solidFill>
              </a:defRPr>
            </a:lvl1pPr>
            <a:lvl2pPr marL="432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600">
                <a:solidFill>
                  <a:schemeClr val="tx1"/>
                </a:solidFill>
              </a:defRPr>
            </a:lvl2pPr>
            <a:lvl3pPr marL="648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864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1080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100">
                <a:solidFill>
                  <a:schemeClr val="tx1"/>
                </a:solidFill>
              </a:defRPr>
            </a:lvl5pPr>
          </a:lstStyle>
          <a:p>
            <a:pPr marL="216000" marR="0" lvl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Erste Ebene</a:t>
            </a:r>
          </a:p>
          <a:p>
            <a:pPr marL="432000" marR="0" lvl="1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Zweite Ebene</a:t>
            </a:r>
          </a:p>
          <a:p>
            <a:pPr marL="648000" marR="0" lvl="2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Dritte Ebene</a:t>
            </a:r>
          </a:p>
          <a:p>
            <a:pPr marL="864000" marR="0" lvl="3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Vierte Ebene</a:t>
            </a:r>
          </a:p>
          <a:p>
            <a:pPr marL="1080000" marR="0" lvl="4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80130879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186000" y="1080000"/>
            <a:ext cx="27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359532" y="1080000"/>
            <a:ext cx="2772000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359532" y="2844000"/>
            <a:ext cx="2772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6012160" y="1080000"/>
            <a:ext cx="2772000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6012161" y="2844000"/>
            <a:ext cx="2772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05817333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186000" y="1080000"/>
            <a:ext cx="27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7" hasCustomPrompt="1"/>
          </p:nvPr>
        </p:nvSpPr>
        <p:spPr>
          <a:xfrm>
            <a:off x="359533" y="1080000"/>
            <a:ext cx="277200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8" hasCustomPrompt="1"/>
          </p:nvPr>
        </p:nvSpPr>
        <p:spPr>
          <a:xfrm>
            <a:off x="359533" y="3420000"/>
            <a:ext cx="2772000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9" hasCustomPrompt="1"/>
          </p:nvPr>
        </p:nvSpPr>
        <p:spPr>
          <a:xfrm>
            <a:off x="359532" y="2250000"/>
            <a:ext cx="277200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30" hasCustomPrompt="1"/>
          </p:nvPr>
        </p:nvSpPr>
        <p:spPr>
          <a:xfrm>
            <a:off x="6011962" y="1080000"/>
            <a:ext cx="277200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6" name="Inhaltsplatzhalter 7"/>
          <p:cNvSpPr>
            <a:spLocks noGrp="1"/>
          </p:cNvSpPr>
          <p:nvPr>
            <p:ph sz="quarter" idx="31" hasCustomPrompt="1"/>
          </p:nvPr>
        </p:nvSpPr>
        <p:spPr>
          <a:xfrm>
            <a:off x="6011962" y="3420000"/>
            <a:ext cx="2772000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7" name="Inhaltsplatzhalter 7"/>
          <p:cNvSpPr>
            <a:spLocks noGrp="1"/>
          </p:cNvSpPr>
          <p:nvPr>
            <p:ph sz="quarter" idx="32" hasCustomPrompt="1"/>
          </p:nvPr>
        </p:nvSpPr>
        <p:spPr>
          <a:xfrm>
            <a:off x="6011961" y="2250000"/>
            <a:ext cx="277200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214469088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4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0" name="Inhaltsplatzhalter 53"/>
          <p:cNvSpPr>
            <a:spLocks noGrp="1"/>
          </p:cNvSpPr>
          <p:nvPr>
            <p:ph sz="half" idx="1" hasCustomPrompt="1"/>
          </p:nvPr>
        </p:nvSpPr>
        <p:spPr>
          <a:xfrm>
            <a:off x="0" y="1692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1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602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4" name="Inhaltsplatzhalter 57"/>
          <p:cNvSpPr>
            <a:spLocks noGrp="1"/>
          </p:cNvSpPr>
          <p:nvPr>
            <p:ph sz="half" idx="27" hasCustomPrompt="1"/>
          </p:nvPr>
        </p:nvSpPr>
        <p:spPr>
          <a:xfrm>
            <a:off x="0" y="3456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5" name="Bildplatzhalter 4"/>
          <p:cNvSpPr>
            <a:spLocks noGrp="1"/>
          </p:cNvSpPr>
          <p:nvPr>
            <p:ph type="pic" sz="quarter" idx="28"/>
          </p:nvPr>
        </p:nvSpPr>
        <p:spPr>
          <a:xfrm>
            <a:off x="1908000" y="3366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6" name="Inhaltsplatzhalter 7"/>
          <p:cNvSpPr>
            <a:spLocks noGrp="1"/>
          </p:cNvSpPr>
          <p:nvPr>
            <p:ph sz="quarter" idx="29" hasCustomPrompt="1"/>
          </p:nvPr>
        </p:nvSpPr>
        <p:spPr>
          <a:xfrm>
            <a:off x="2663787" y="1080000"/>
            <a:ext cx="61202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88017567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0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1" name="Inhaltsplatzhalter 49"/>
          <p:cNvSpPr>
            <a:spLocks noGrp="1"/>
          </p:cNvSpPr>
          <p:nvPr>
            <p:ph sz="half" idx="1" hasCustomPrompt="1"/>
          </p:nvPr>
        </p:nvSpPr>
        <p:spPr>
          <a:xfrm>
            <a:off x="0" y="1404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4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31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5" name="Inhaltsplatzhalter 52"/>
          <p:cNvSpPr>
            <a:spLocks noGrp="1"/>
          </p:cNvSpPr>
          <p:nvPr>
            <p:ph sz="half" idx="29" hasCustomPrompt="1"/>
          </p:nvPr>
        </p:nvSpPr>
        <p:spPr>
          <a:xfrm>
            <a:off x="0" y="2574000"/>
            <a:ext cx="1944000" cy="468000"/>
          </a:xfrm>
          <a:custGeom>
            <a:avLst/>
            <a:gdLst>
              <a:gd name="connsiteX0" fmla="*/ 0 w 2199645"/>
              <a:gd name="connsiteY0" fmla="*/ 0 h 457200"/>
              <a:gd name="connsiteX1" fmla="*/ 2199645 w 2199645"/>
              <a:gd name="connsiteY1" fmla="*/ 0 h 457200"/>
              <a:gd name="connsiteX2" fmla="*/ 2196860 w 2199645"/>
              <a:gd name="connsiteY2" fmla="*/ 2298 h 457200"/>
              <a:gd name="connsiteX3" fmla="*/ 2103122 w 2199645"/>
              <a:gd name="connsiteY3" fmla="*/ 228600 h 457200"/>
              <a:gd name="connsiteX4" fmla="*/ 2196860 w 2199645"/>
              <a:gd name="connsiteY4" fmla="*/ 454902 h 457200"/>
              <a:gd name="connsiteX5" fmla="*/ 2199645 w 2199645"/>
              <a:gd name="connsiteY5" fmla="*/ 457200 h 457200"/>
              <a:gd name="connsiteX6" fmla="*/ 0 w 2199645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99645" h="457200">
                <a:moveTo>
                  <a:pt x="0" y="0"/>
                </a:moveTo>
                <a:lnTo>
                  <a:pt x="2199645" y="0"/>
                </a:lnTo>
                <a:lnTo>
                  <a:pt x="2196860" y="2298"/>
                </a:lnTo>
                <a:cubicBezTo>
                  <a:pt x="2138944" y="60214"/>
                  <a:pt x="2103122" y="140224"/>
                  <a:pt x="2103122" y="228600"/>
                </a:cubicBezTo>
                <a:cubicBezTo>
                  <a:pt x="2103122" y="316977"/>
                  <a:pt x="2138944" y="396987"/>
                  <a:pt x="2196860" y="454902"/>
                </a:cubicBezTo>
                <a:lnTo>
                  <a:pt x="2199645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6" name="Inhaltsplatzhalter 55"/>
          <p:cNvSpPr>
            <a:spLocks noGrp="1"/>
          </p:cNvSpPr>
          <p:nvPr>
            <p:ph sz="half" idx="31" hasCustomPrompt="1"/>
          </p:nvPr>
        </p:nvSpPr>
        <p:spPr>
          <a:xfrm>
            <a:off x="0" y="3744000"/>
            <a:ext cx="1944000" cy="468000"/>
          </a:xfrm>
          <a:custGeom>
            <a:avLst/>
            <a:gdLst>
              <a:gd name="connsiteX0" fmla="*/ 0 w 2382522"/>
              <a:gd name="connsiteY0" fmla="*/ 0 h 457200"/>
              <a:gd name="connsiteX1" fmla="*/ 2382522 w 2382522"/>
              <a:gd name="connsiteY1" fmla="*/ 0 h 457200"/>
              <a:gd name="connsiteX2" fmla="*/ 2379738 w 2382522"/>
              <a:gd name="connsiteY2" fmla="*/ 2298 h 457200"/>
              <a:gd name="connsiteX3" fmla="*/ 2286000 w 2382522"/>
              <a:gd name="connsiteY3" fmla="*/ 228600 h 457200"/>
              <a:gd name="connsiteX4" fmla="*/ 2379738 w 2382522"/>
              <a:gd name="connsiteY4" fmla="*/ 454903 h 457200"/>
              <a:gd name="connsiteX5" fmla="*/ 2382522 w 2382522"/>
              <a:gd name="connsiteY5" fmla="*/ 457200 h 457200"/>
              <a:gd name="connsiteX6" fmla="*/ 0 w 2382522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382522" h="457200">
                <a:moveTo>
                  <a:pt x="0" y="0"/>
                </a:moveTo>
                <a:lnTo>
                  <a:pt x="2382522" y="0"/>
                </a:lnTo>
                <a:lnTo>
                  <a:pt x="2379738" y="2298"/>
                </a:lnTo>
                <a:cubicBezTo>
                  <a:pt x="2321822" y="60214"/>
                  <a:pt x="2286000" y="140224"/>
                  <a:pt x="2286000" y="228600"/>
                </a:cubicBezTo>
                <a:cubicBezTo>
                  <a:pt x="2286000" y="316977"/>
                  <a:pt x="2321822" y="396987"/>
                  <a:pt x="2379738" y="454903"/>
                </a:cubicBezTo>
                <a:lnTo>
                  <a:pt x="238252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Bildplatzhalter 4"/>
          <p:cNvSpPr>
            <a:spLocks noGrp="1"/>
          </p:cNvSpPr>
          <p:nvPr>
            <p:ph type="pic" sz="quarter" idx="37"/>
          </p:nvPr>
        </p:nvSpPr>
        <p:spPr>
          <a:xfrm>
            <a:off x="1908000" y="248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8" name="Bildplatzhalter 4"/>
          <p:cNvSpPr>
            <a:spLocks noGrp="1"/>
          </p:cNvSpPr>
          <p:nvPr>
            <p:ph type="pic" sz="quarter" idx="38"/>
          </p:nvPr>
        </p:nvSpPr>
        <p:spPr>
          <a:xfrm>
            <a:off x="1908000" y="365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9" name="Inhaltsplatzhalter 7"/>
          <p:cNvSpPr>
            <a:spLocks noGrp="1"/>
          </p:cNvSpPr>
          <p:nvPr>
            <p:ph sz="quarter" idx="39" hasCustomPrompt="1"/>
          </p:nvPr>
        </p:nvSpPr>
        <p:spPr>
          <a:xfrm>
            <a:off x="2663787" y="1080000"/>
            <a:ext cx="61202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43936484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6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6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656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Inhaltsplatzhalter 22"/>
          <p:cNvSpPr>
            <a:spLocks noGrp="1"/>
          </p:cNvSpPr>
          <p:nvPr>
            <p:ph sz="half" idx="30" hasCustomPrompt="1"/>
          </p:nvPr>
        </p:nvSpPr>
        <p:spPr>
          <a:xfrm>
            <a:off x="0" y="3420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31" hasCustomPrompt="1"/>
          </p:nvPr>
        </p:nvSpPr>
        <p:spPr>
          <a:xfrm>
            <a:off x="2663787" y="1080000"/>
            <a:ext cx="61202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6291780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9" name="Inhaltsplatzhalter 23"/>
          <p:cNvSpPr>
            <a:spLocks noGrp="1"/>
          </p:cNvSpPr>
          <p:nvPr>
            <p:ph sz="half" idx="31" hasCustomPrompt="1"/>
          </p:nvPr>
        </p:nvSpPr>
        <p:spPr>
          <a:xfrm>
            <a:off x="0" y="3708000"/>
            <a:ext cx="2520000" cy="540000"/>
          </a:xfrm>
          <a:custGeom>
            <a:avLst/>
            <a:gdLst>
              <a:gd name="connsiteX0" fmla="*/ 365762 w 2926087"/>
              <a:gd name="connsiteY0" fmla="*/ 0 h 458160"/>
              <a:gd name="connsiteX1" fmla="*/ 2697487 w 2926087"/>
              <a:gd name="connsiteY1" fmla="*/ 0 h 458160"/>
              <a:gd name="connsiteX2" fmla="*/ 2703565 w 2926087"/>
              <a:gd name="connsiteY2" fmla="*/ 0 h 458160"/>
              <a:gd name="connsiteX3" fmla="*/ 2702813 w 2926087"/>
              <a:gd name="connsiteY3" fmla="*/ 537 h 458160"/>
              <a:gd name="connsiteX4" fmla="*/ 2743558 w 2926087"/>
              <a:gd name="connsiteY4" fmla="*/ 4644 h 458160"/>
              <a:gd name="connsiteX5" fmla="*/ 2926087 w 2926087"/>
              <a:gd name="connsiteY5" fmla="*/ 228600 h 458160"/>
              <a:gd name="connsiteX6" fmla="*/ 2697487 w 2926087"/>
              <a:gd name="connsiteY6" fmla="*/ 457200 h 458160"/>
              <a:gd name="connsiteX7" fmla="*/ 2694027 w 2926087"/>
              <a:gd name="connsiteY7" fmla="*/ 456851 h 458160"/>
              <a:gd name="connsiteX8" fmla="*/ 2694360 w 2926087"/>
              <a:gd name="connsiteY8" fmla="*/ 457200 h 458160"/>
              <a:gd name="connsiteX9" fmla="*/ 2330584 w 2926087"/>
              <a:gd name="connsiteY9" fmla="*/ 457200 h 458160"/>
              <a:gd name="connsiteX10" fmla="*/ 2331720 w 2926087"/>
              <a:gd name="connsiteY10" fmla="*/ 458160 h 458160"/>
              <a:gd name="connsiteX11" fmla="*/ 182880 w 2926087"/>
              <a:gd name="connsiteY11" fmla="*/ 458160 h 458160"/>
              <a:gd name="connsiteX12" fmla="*/ 0 w 2926087"/>
              <a:gd name="connsiteY12" fmla="*/ 458160 h 458160"/>
              <a:gd name="connsiteX13" fmla="*/ 0 w 2926087"/>
              <a:gd name="connsiteY13" fmla="*/ 960 h 458160"/>
              <a:gd name="connsiteX14" fmla="*/ 182880 w 2926087"/>
              <a:gd name="connsiteY14" fmla="*/ 960 h 458160"/>
              <a:gd name="connsiteX15" fmla="*/ 365762 w 2926087"/>
              <a:gd name="connsiteY15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926087" h="458160">
                <a:moveTo>
                  <a:pt x="365762" y="0"/>
                </a:moveTo>
                <a:lnTo>
                  <a:pt x="2697487" y="0"/>
                </a:lnTo>
                <a:lnTo>
                  <a:pt x="2703565" y="0"/>
                </a:lnTo>
                <a:lnTo>
                  <a:pt x="2702813" y="537"/>
                </a:lnTo>
                <a:lnTo>
                  <a:pt x="2743558" y="4644"/>
                </a:lnTo>
                <a:cubicBezTo>
                  <a:pt x="2847727" y="25961"/>
                  <a:pt x="2926087" y="118130"/>
                  <a:pt x="2926087" y="228600"/>
                </a:cubicBezTo>
                <a:cubicBezTo>
                  <a:pt x="2926087" y="354852"/>
                  <a:pt x="2823739" y="457200"/>
                  <a:pt x="2697487" y="457200"/>
                </a:cubicBezTo>
                <a:lnTo>
                  <a:pt x="2694027" y="456851"/>
                </a:lnTo>
                <a:lnTo>
                  <a:pt x="2694360" y="457200"/>
                </a:lnTo>
                <a:lnTo>
                  <a:pt x="2330584" y="457200"/>
                </a:lnTo>
                <a:lnTo>
                  <a:pt x="2331720" y="458160"/>
                </a:lnTo>
                <a:lnTo>
                  <a:pt x="18288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0" y="960"/>
                </a:lnTo>
                <a:lnTo>
                  <a:pt x="36576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0" name="Inhaltsplatzhalter 17"/>
          <p:cNvSpPr>
            <a:spLocks noGrp="1"/>
          </p:cNvSpPr>
          <p:nvPr>
            <p:ph sz="half" idx="37" hasCustomPrompt="1"/>
          </p:nvPr>
        </p:nvSpPr>
        <p:spPr>
          <a:xfrm>
            <a:off x="0" y="2538000"/>
            <a:ext cx="2520000" cy="540000"/>
          </a:xfrm>
          <a:custGeom>
            <a:avLst/>
            <a:gdLst>
              <a:gd name="connsiteX0" fmla="*/ 182882 w 2743207"/>
              <a:gd name="connsiteY0" fmla="*/ 0 h 458160"/>
              <a:gd name="connsiteX1" fmla="*/ 2514607 w 2743207"/>
              <a:gd name="connsiteY1" fmla="*/ 0 h 458160"/>
              <a:gd name="connsiteX2" fmla="*/ 2520685 w 2743207"/>
              <a:gd name="connsiteY2" fmla="*/ 0 h 458160"/>
              <a:gd name="connsiteX3" fmla="*/ 2519933 w 2743207"/>
              <a:gd name="connsiteY3" fmla="*/ 537 h 458160"/>
              <a:gd name="connsiteX4" fmla="*/ 2560678 w 2743207"/>
              <a:gd name="connsiteY4" fmla="*/ 4644 h 458160"/>
              <a:gd name="connsiteX5" fmla="*/ 2743207 w 2743207"/>
              <a:gd name="connsiteY5" fmla="*/ 228600 h 458160"/>
              <a:gd name="connsiteX6" fmla="*/ 2514607 w 2743207"/>
              <a:gd name="connsiteY6" fmla="*/ 457200 h 458160"/>
              <a:gd name="connsiteX7" fmla="*/ 2511147 w 2743207"/>
              <a:gd name="connsiteY7" fmla="*/ 456851 h 458160"/>
              <a:gd name="connsiteX8" fmla="*/ 2511480 w 2743207"/>
              <a:gd name="connsiteY8" fmla="*/ 457200 h 458160"/>
              <a:gd name="connsiteX9" fmla="*/ 2147704 w 2743207"/>
              <a:gd name="connsiteY9" fmla="*/ 457200 h 458160"/>
              <a:gd name="connsiteX10" fmla="*/ 2148840 w 2743207"/>
              <a:gd name="connsiteY10" fmla="*/ 458160 h 458160"/>
              <a:gd name="connsiteX11" fmla="*/ 0 w 2743207"/>
              <a:gd name="connsiteY11" fmla="*/ 458160 h 458160"/>
              <a:gd name="connsiteX12" fmla="*/ 0 w 2743207"/>
              <a:gd name="connsiteY12" fmla="*/ 960 h 458160"/>
              <a:gd name="connsiteX13" fmla="*/ 182882 w 2743207"/>
              <a:gd name="connsiteY13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743207" h="458160">
                <a:moveTo>
                  <a:pt x="182882" y="0"/>
                </a:moveTo>
                <a:lnTo>
                  <a:pt x="2514607" y="0"/>
                </a:lnTo>
                <a:lnTo>
                  <a:pt x="2520685" y="0"/>
                </a:lnTo>
                <a:lnTo>
                  <a:pt x="2519933" y="537"/>
                </a:lnTo>
                <a:lnTo>
                  <a:pt x="2560678" y="4644"/>
                </a:lnTo>
                <a:cubicBezTo>
                  <a:pt x="2664847" y="25961"/>
                  <a:pt x="2743207" y="118130"/>
                  <a:pt x="2743207" y="228600"/>
                </a:cubicBezTo>
                <a:cubicBezTo>
                  <a:pt x="2743207" y="354852"/>
                  <a:pt x="2640859" y="457200"/>
                  <a:pt x="2514607" y="457200"/>
                </a:cubicBezTo>
                <a:lnTo>
                  <a:pt x="2511147" y="456851"/>
                </a:lnTo>
                <a:lnTo>
                  <a:pt x="2511480" y="457200"/>
                </a:lnTo>
                <a:lnTo>
                  <a:pt x="2147704" y="457200"/>
                </a:lnTo>
                <a:lnTo>
                  <a:pt x="214884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2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368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38" hasCustomPrompt="1"/>
          </p:nvPr>
        </p:nvSpPr>
        <p:spPr>
          <a:xfrm>
            <a:off x="2663787" y="1080000"/>
            <a:ext cx="61202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86077455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7" y="1080000"/>
            <a:ext cx="6120211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663787" y="2844000"/>
            <a:ext cx="6120211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53"/>
          <p:cNvSpPr>
            <a:spLocks noGrp="1"/>
          </p:cNvSpPr>
          <p:nvPr>
            <p:ph sz="half" idx="1" hasCustomPrompt="1"/>
          </p:nvPr>
        </p:nvSpPr>
        <p:spPr>
          <a:xfrm>
            <a:off x="0" y="1692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1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602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4" name="Inhaltsplatzhalter 57"/>
          <p:cNvSpPr>
            <a:spLocks noGrp="1"/>
          </p:cNvSpPr>
          <p:nvPr>
            <p:ph sz="half" idx="27" hasCustomPrompt="1"/>
          </p:nvPr>
        </p:nvSpPr>
        <p:spPr>
          <a:xfrm>
            <a:off x="0" y="3456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5" name="Bildplatzhalter 4"/>
          <p:cNvSpPr>
            <a:spLocks noGrp="1"/>
          </p:cNvSpPr>
          <p:nvPr>
            <p:ph type="pic" sz="quarter" idx="28"/>
          </p:nvPr>
        </p:nvSpPr>
        <p:spPr>
          <a:xfrm>
            <a:off x="1908000" y="3366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0879077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7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7" y="1080000"/>
            <a:ext cx="6120211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843808" y="2844000"/>
            <a:ext cx="594019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6" name="Inhaltsplatzhalter 53"/>
          <p:cNvSpPr>
            <a:spLocks noGrp="1"/>
          </p:cNvSpPr>
          <p:nvPr>
            <p:ph sz="half" idx="36" hasCustomPrompt="1"/>
          </p:nvPr>
        </p:nvSpPr>
        <p:spPr>
          <a:xfrm>
            <a:off x="0" y="1692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Bildplatzhalter 4"/>
          <p:cNvSpPr>
            <a:spLocks noGrp="1"/>
          </p:cNvSpPr>
          <p:nvPr>
            <p:ph type="pic" sz="quarter" idx="37"/>
          </p:nvPr>
        </p:nvSpPr>
        <p:spPr>
          <a:xfrm>
            <a:off x="1907776" y="1602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8" name="Inhaltsplatzhalter 57"/>
          <p:cNvSpPr>
            <a:spLocks noGrp="1"/>
          </p:cNvSpPr>
          <p:nvPr>
            <p:ph sz="half" idx="27" hasCustomPrompt="1"/>
          </p:nvPr>
        </p:nvSpPr>
        <p:spPr>
          <a:xfrm>
            <a:off x="0" y="3456000"/>
            <a:ext cx="212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9" name="Bildplatzhalter 4"/>
          <p:cNvSpPr>
            <a:spLocks noGrp="1"/>
          </p:cNvSpPr>
          <p:nvPr>
            <p:ph type="pic" sz="quarter" idx="28"/>
          </p:nvPr>
        </p:nvSpPr>
        <p:spPr>
          <a:xfrm>
            <a:off x="2087796" y="3366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26512738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5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i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7" y="1080000"/>
            <a:ext cx="6120211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663787" y="2844000"/>
            <a:ext cx="6120211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6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656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Inhaltsplatzhalter 22"/>
          <p:cNvSpPr>
            <a:spLocks noGrp="1"/>
          </p:cNvSpPr>
          <p:nvPr>
            <p:ph sz="half" idx="30" hasCustomPrompt="1"/>
          </p:nvPr>
        </p:nvSpPr>
        <p:spPr>
          <a:xfrm>
            <a:off x="0" y="3420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89339186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7" y="1080000"/>
            <a:ext cx="6120211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843808" y="2844000"/>
            <a:ext cx="594019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4" name="Inhaltsplatzhalter 18"/>
          <p:cNvSpPr>
            <a:spLocks noGrp="1"/>
          </p:cNvSpPr>
          <p:nvPr>
            <p:ph sz="half" idx="38" hasCustomPrompt="1"/>
          </p:nvPr>
        </p:nvSpPr>
        <p:spPr>
          <a:xfrm>
            <a:off x="0" y="1656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5" name="Inhaltsplatzhalter 22"/>
          <p:cNvSpPr>
            <a:spLocks noGrp="1"/>
          </p:cNvSpPr>
          <p:nvPr>
            <p:ph sz="half" idx="39" hasCustomPrompt="1"/>
          </p:nvPr>
        </p:nvSpPr>
        <p:spPr>
          <a:xfrm>
            <a:off x="0" y="3420000"/>
            <a:ext cx="2736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56919109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9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9" y="108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663789" y="3420000"/>
            <a:ext cx="6120209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663788" y="225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1" name="Inhaltsplatzhalter 49"/>
          <p:cNvSpPr>
            <a:spLocks noGrp="1"/>
          </p:cNvSpPr>
          <p:nvPr>
            <p:ph sz="half" idx="1" hasCustomPrompt="1"/>
          </p:nvPr>
        </p:nvSpPr>
        <p:spPr>
          <a:xfrm>
            <a:off x="0" y="1404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4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31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5" name="Inhaltsplatzhalter 52"/>
          <p:cNvSpPr>
            <a:spLocks noGrp="1"/>
          </p:cNvSpPr>
          <p:nvPr>
            <p:ph sz="half" idx="29" hasCustomPrompt="1"/>
          </p:nvPr>
        </p:nvSpPr>
        <p:spPr>
          <a:xfrm>
            <a:off x="0" y="2574000"/>
            <a:ext cx="1944000" cy="468000"/>
          </a:xfrm>
          <a:custGeom>
            <a:avLst/>
            <a:gdLst>
              <a:gd name="connsiteX0" fmla="*/ 0 w 2199645"/>
              <a:gd name="connsiteY0" fmla="*/ 0 h 457200"/>
              <a:gd name="connsiteX1" fmla="*/ 2199645 w 2199645"/>
              <a:gd name="connsiteY1" fmla="*/ 0 h 457200"/>
              <a:gd name="connsiteX2" fmla="*/ 2196860 w 2199645"/>
              <a:gd name="connsiteY2" fmla="*/ 2298 h 457200"/>
              <a:gd name="connsiteX3" fmla="*/ 2103122 w 2199645"/>
              <a:gd name="connsiteY3" fmla="*/ 228600 h 457200"/>
              <a:gd name="connsiteX4" fmla="*/ 2196860 w 2199645"/>
              <a:gd name="connsiteY4" fmla="*/ 454902 h 457200"/>
              <a:gd name="connsiteX5" fmla="*/ 2199645 w 2199645"/>
              <a:gd name="connsiteY5" fmla="*/ 457200 h 457200"/>
              <a:gd name="connsiteX6" fmla="*/ 0 w 2199645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99645" h="457200">
                <a:moveTo>
                  <a:pt x="0" y="0"/>
                </a:moveTo>
                <a:lnTo>
                  <a:pt x="2199645" y="0"/>
                </a:lnTo>
                <a:lnTo>
                  <a:pt x="2196860" y="2298"/>
                </a:lnTo>
                <a:cubicBezTo>
                  <a:pt x="2138944" y="60214"/>
                  <a:pt x="2103122" y="140224"/>
                  <a:pt x="2103122" y="228600"/>
                </a:cubicBezTo>
                <a:cubicBezTo>
                  <a:pt x="2103122" y="316977"/>
                  <a:pt x="2138944" y="396987"/>
                  <a:pt x="2196860" y="454902"/>
                </a:cubicBezTo>
                <a:lnTo>
                  <a:pt x="2199645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6" name="Inhaltsplatzhalter 55"/>
          <p:cNvSpPr>
            <a:spLocks noGrp="1"/>
          </p:cNvSpPr>
          <p:nvPr>
            <p:ph sz="half" idx="31" hasCustomPrompt="1"/>
          </p:nvPr>
        </p:nvSpPr>
        <p:spPr>
          <a:xfrm>
            <a:off x="0" y="3744000"/>
            <a:ext cx="1944000" cy="468000"/>
          </a:xfrm>
          <a:custGeom>
            <a:avLst/>
            <a:gdLst>
              <a:gd name="connsiteX0" fmla="*/ 0 w 2382522"/>
              <a:gd name="connsiteY0" fmla="*/ 0 h 457200"/>
              <a:gd name="connsiteX1" fmla="*/ 2382522 w 2382522"/>
              <a:gd name="connsiteY1" fmla="*/ 0 h 457200"/>
              <a:gd name="connsiteX2" fmla="*/ 2379738 w 2382522"/>
              <a:gd name="connsiteY2" fmla="*/ 2298 h 457200"/>
              <a:gd name="connsiteX3" fmla="*/ 2286000 w 2382522"/>
              <a:gd name="connsiteY3" fmla="*/ 228600 h 457200"/>
              <a:gd name="connsiteX4" fmla="*/ 2379738 w 2382522"/>
              <a:gd name="connsiteY4" fmla="*/ 454903 h 457200"/>
              <a:gd name="connsiteX5" fmla="*/ 2382522 w 2382522"/>
              <a:gd name="connsiteY5" fmla="*/ 457200 h 457200"/>
              <a:gd name="connsiteX6" fmla="*/ 0 w 2382522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382522" h="457200">
                <a:moveTo>
                  <a:pt x="0" y="0"/>
                </a:moveTo>
                <a:lnTo>
                  <a:pt x="2382522" y="0"/>
                </a:lnTo>
                <a:lnTo>
                  <a:pt x="2379738" y="2298"/>
                </a:lnTo>
                <a:cubicBezTo>
                  <a:pt x="2321822" y="60214"/>
                  <a:pt x="2286000" y="140224"/>
                  <a:pt x="2286000" y="228600"/>
                </a:cubicBezTo>
                <a:cubicBezTo>
                  <a:pt x="2286000" y="316977"/>
                  <a:pt x="2321822" y="396987"/>
                  <a:pt x="2379738" y="454903"/>
                </a:cubicBezTo>
                <a:lnTo>
                  <a:pt x="238252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Bildplatzhalter 4"/>
          <p:cNvSpPr>
            <a:spLocks noGrp="1"/>
          </p:cNvSpPr>
          <p:nvPr>
            <p:ph type="pic" sz="quarter" idx="37"/>
          </p:nvPr>
        </p:nvSpPr>
        <p:spPr>
          <a:xfrm>
            <a:off x="1908000" y="248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8" name="Bildplatzhalter 4"/>
          <p:cNvSpPr>
            <a:spLocks noGrp="1"/>
          </p:cNvSpPr>
          <p:nvPr>
            <p:ph type="pic" sz="quarter" idx="38"/>
          </p:nvPr>
        </p:nvSpPr>
        <p:spPr>
          <a:xfrm>
            <a:off x="1908000" y="365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2322974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3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9" y="108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023828" y="3420000"/>
            <a:ext cx="5760170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843808" y="2250000"/>
            <a:ext cx="594019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9" name="Inhaltsplatzhalter 49"/>
          <p:cNvSpPr>
            <a:spLocks noGrp="1"/>
          </p:cNvSpPr>
          <p:nvPr>
            <p:ph sz="half" idx="1" hasCustomPrompt="1"/>
          </p:nvPr>
        </p:nvSpPr>
        <p:spPr>
          <a:xfrm>
            <a:off x="0" y="1404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0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31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22" name="Inhaltsplatzhalter 52"/>
          <p:cNvSpPr>
            <a:spLocks noGrp="1"/>
          </p:cNvSpPr>
          <p:nvPr>
            <p:ph sz="half" idx="29" hasCustomPrompt="1"/>
          </p:nvPr>
        </p:nvSpPr>
        <p:spPr>
          <a:xfrm>
            <a:off x="0" y="2574000"/>
            <a:ext cx="2124000" cy="468000"/>
          </a:xfrm>
          <a:custGeom>
            <a:avLst/>
            <a:gdLst>
              <a:gd name="connsiteX0" fmla="*/ 0 w 2199645"/>
              <a:gd name="connsiteY0" fmla="*/ 0 h 457200"/>
              <a:gd name="connsiteX1" fmla="*/ 2199645 w 2199645"/>
              <a:gd name="connsiteY1" fmla="*/ 0 h 457200"/>
              <a:gd name="connsiteX2" fmla="*/ 2196860 w 2199645"/>
              <a:gd name="connsiteY2" fmla="*/ 2298 h 457200"/>
              <a:gd name="connsiteX3" fmla="*/ 2103122 w 2199645"/>
              <a:gd name="connsiteY3" fmla="*/ 228600 h 457200"/>
              <a:gd name="connsiteX4" fmla="*/ 2196860 w 2199645"/>
              <a:gd name="connsiteY4" fmla="*/ 454902 h 457200"/>
              <a:gd name="connsiteX5" fmla="*/ 2199645 w 2199645"/>
              <a:gd name="connsiteY5" fmla="*/ 457200 h 457200"/>
              <a:gd name="connsiteX6" fmla="*/ 0 w 2199645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99645" h="457200">
                <a:moveTo>
                  <a:pt x="0" y="0"/>
                </a:moveTo>
                <a:lnTo>
                  <a:pt x="2199645" y="0"/>
                </a:lnTo>
                <a:lnTo>
                  <a:pt x="2196860" y="2298"/>
                </a:lnTo>
                <a:cubicBezTo>
                  <a:pt x="2138944" y="60214"/>
                  <a:pt x="2103122" y="140224"/>
                  <a:pt x="2103122" y="228600"/>
                </a:cubicBezTo>
                <a:cubicBezTo>
                  <a:pt x="2103122" y="316977"/>
                  <a:pt x="2138944" y="396987"/>
                  <a:pt x="2196860" y="454902"/>
                </a:cubicBezTo>
                <a:lnTo>
                  <a:pt x="2199645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3" name="Inhaltsplatzhalter 55"/>
          <p:cNvSpPr>
            <a:spLocks noGrp="1"/>
          </p:cNvSpPr>
          <p:nvPr>
            <p:ph sz="half" idx="31" hasCustomPrompt="1"/>
          </p:nvPr>
        </p:nvSpPr>
        <p:spPr>
          <a:xfrm>
            <a:off x="0" y="3744000"/>
            <a:ext cx="2304000" cy="468000"/>
          </a:xfrm>
          <a:custGeom>
            <a:avLst/>
            <a:gdLst>
              <a:gd name="connsiteX0" fmla="*/ 0 w 2382522"/>
              <a:gd name="connsiteY0" fmla="*/ 0 h 457200"/>
              <a:gd name="connsiteX1" fmla="*/ 2382522 w 2382522"/>
              <a:gd name="connsiteY1" fmla="*/ 0 h 457200"/>
              <a:gd name="connsiteX2" fmla="*/ 2379738 w 2382522"/>
              <a:gd name="connsiteY2" fmla="*/ 2298 h 457200"/>
              <a:gd name="connsiteX3" fmla="*/ 2286000 w 2382522"/>
              <a:gd name="connsiteY3" fmla="*/ 228600 h 457200"/>
              <a:gd name="connsiteX4" fmla="*/ 2379738 w 2382522"/>
              <a:gd name="connsiteY4" fmla="*/ 454903 h 457200"/>
              <a:gd name="connsiteX5" fmla="*/ 2382522 w 2382522"/>
              <a:gd name="connsiteY5" fmla="*/ 457200 h 457200"/>
              <a:gd name="connsiteX6" fmla="*/ 0 w 2382522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382522" h="457200">
                <a:moveTo>
                  <a:pt x="0" y="0"/>
                </a:moveTo>
                <a:lnTo>
                  <a:pt x="2382522" y="0"/>
                </a:lnTo>
                <a:lnTo>
                  <a:pt x="2379738" y="2298"/>
                </a:lnTo>
                <a:cubicBezTo>
                  <a:pt x="2321822" y="60214"/>
                  <a:pt x="2286000" y="140224"/>
                  <a:pt x="2286000" y="228600"/>
                </a:cubicBezTo>
                <a:cubicBezTo>
                  <a:pt x="2286000" y="316977"/>
                  <a:pt x="2321822" y="396987"/>
                  <a:pt x="2379738" y="454903"/>
                </a:cubicBezTo>
                <a:lnTo>
                  <a:pt x="238252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4" name="Bildplatzhalter 4"/>
          <p:cNvSpPr>
            <a:spLocks noGrp="1"/>
          </p:cNvSpPr>
          <p:nvPr>
            <p:ph type="pic" sz="quarter" idx="32"/>
          </p:nvPr>
        </p:nvSpPr>
        <p:spPr>
          <a:xfrm>
            <a:off x="2088000" y="248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25" name="Bildplatzhalter 4"/>
          <p:cNvSpPr>
            <a:spLocks noGrp="1"/>
          </p:cNvSpPr>
          <p:nvPr>
            <p:ph type="pic" sz="quarter" idx="33"/>
          </p:nvPr>
        </p:nvSpPr>
        <p:spPr>
          <a:xfrm>
            <a:off x="2268000" y="365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8821743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9" y="108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663789" y="3420000"/>
            <a:ext cx="6120209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663788" y="225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9" name="Inhaltsplatzhalter 23"/>
          <p:cNvSpPr>
            <a:spLocks noGrp="1"/>
          </p:cNvSpPr>
          <p:nvPr>
            <p:ph sz="half" idx="31" hasCustomPrompt="1"/>
          </p:nvPr>
        </p:nvSpPr>
        <p:spPr>
          <a:xfrm>
            <a:off x="0" y="3708000"/>
            <a:ext cx="2520000" cy="540000"/>
          </a:xfrm>
          <a:custGeom>
            <a:avLst/>
            <a:gdLst>
              <a:gd name="connsiteX0" fmla="*/ 365762 w 2926087"/>
              <a:gd name="connsiteY0" fmla="*/ 0 h 458160"/>
              <a:gd name="connsiteX1" fmla="*/ 2697487 w 2926087"/>
              <a:gd name="connsiteY1" fmla="*/ 0 h 458160"/>
              <a:gd name="connsiteX2" fmla="*/ 2703565 w 2926087"/>
              <a:gd name="connsiteY2" fmla="*/ 0 h 458160"/>
              <a:gd name="connsiteX3" fmla="*/ 2702813 w 2926087"/>
              <a:gd name="connsiteY3" fmla="*/ 537 h 458160"/>
              <a:gd name="connsiteX4" fmla="*/ 2743558 w 2926087"/>
              <a:gd name="connsiteY4" fmla="*/ 4644 h 458160"/>
              <a:gd name="connsiteX5" fmla="*/ 2926087 w 2926087"/>
              <a:gd name="connsiteY5" fmla="*/ 228600 h 458160"/>
              <a:gd name="connsiteX6" fmla="*/ 2697487 w 2926087"/>
              <a:gd name="connsiteY6" fmla="*/ 457200 h 458160"/>
              <a:gd name="connsiteX7" fmla="*/ 2694027 w 2926087"/>
              <a:gd name="connsiteY7" fmla="*/ 456851 h 458160"/>
              <a:gd name="connsiteX8" fmla="*/ 2694360 w 2926087"/>
              <a:gd name="connsiteY8" fmla="*/ 457200 h 458160"/>
              <a:gd name="connsiteX9" fmla="*/ 2330584 w 2926087"/>
              <a:gd name="connsiteY9" fmla="*/ 457200 h 458160"/>
              <a:gd name="connsiteX10" fmla="*/ 2331720 w 2926087"/>
              <a:gd name="connsiteY10" fmla="*/ 458160 h 458160"/>
              <a:gd name="connsiteX11" fmla="*/ 182880 w 2926087"/>
              <a:gd name="connsiteY11" fmla="*/ 458160 h 458160"/>
              <a:gd name="connsiteX12" fmla="*/ 0 w 2926087"/>
              <a:gd name="connsiteY12" fmla="*/ 458160 h 458160"/>
              <a:gd name="connsiteX13" fmla="*/ 0 w 2926087"/>
              <a:gd name="connsiteY13" fmla="*/ 960 h 458160"/>
              <a:gd name="connsiteX14" fmla="*/ 182880 w 2926087"/>
              <a:gd name="connsiteY14" fmla="*/ 960 h 458160"/>
              <a:gd name="connsiteX15" fmla="*/ 365762 w 2926087"/>
              <a:gd name="connsiteY15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926087" h="458160">
                <a:moveTo>
                  <a:pt x="365762" y="0"/>
                </a:moveTo>
                <a:lnTo>
                  <a:pt x="2697487" y="0"/>
                </a:lnTo>
                <a:lnTo>
                  <a:pt x="2703565" y="0"/>
                </a:lnTo>
                <a:lnTo>
                  <a:pt x="2702813" y="537"/>
                </a:lnTo>
                <a:lnTo>
                  <a:pt x="2743558" y="4644"/>
                </a:lnTo>
                <a:cubicBezTo>
                  <a:pt x="2847727" y="25961"/>
                  <a:pt x="2926087" y="118130"/>
                  <a:pt x="2926087" y="228600"/>
                </a:cubicBezTo>
                <a:cubicBezTo>
                  <a:pt x="2926087" y="354852"/>
                  <a:pt x="2823739" y="457200"/>
                  <a:pt x="2697487" y="457200"/>
                </a:cubicBezTo>
                <a:lnTo>
                  <a:pt x="2694027" y="456851"/>
                </a:lnTo>
                <a:lnTo>
                  <a:pt x="2694360" y="457200"/>
                </a:lnTo>
                <a:lnTo>
                  <a:pt x="2330584" y="457200"/>
                </a:lnTo>
                <a:lnTo>
                  <a:pt x="2331720" y="458160"/>
                </a:lnTo>
                <a:lnTo>
                  <a:pt x="18288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0" y="960"/>
                </a:lnTo>
                <a:lnTo>
                  <a:pt x="36576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0" name="Inhaltsplatzhalter 17"/>
          <p:cNvSpPr>
            <a:spLocks noGrp="1"/>
          </p:cNvSpPr>
          <p:nvPr>
            <p:ph sz="half" idx="37" hasCustomPrompt="1"/>
          </p:nvPr>
        </p:nvSpPr>
        <p:spPr>
          <a:xfrm>
            <a:off x="0" y="2538000"/>
            <a:ext cx="2520000" cy="540000"/>
          </a:xfrm>
          <a:custGeom>
            <a:avLst/>
            <a:gdLst>
              <a:gd name="connsiteX0" fmla="*/ 182882 w 2743207"/>
              <a:gd name="connsiteY0" fmla="*/ 0 h 458160"/>
              <a:gd name="connsiteX1" fmla="*/ 2514607 w 2743207"/>
              <a:gd name="connsiteY1" fmla="*/ 0 h 458160"/>
              <a:gd name="connsiteX2" fmla="*/ 2520685 w 2743207"/>
              <a:gd name="connsiteY2" fmla="*/ 0 h 458160"/>
              <a:gd name="connsiteX3" fmla="*/ 2519933 w 2743207"/>
              <a:gd name="connsiteY3" fmla="*/ 537 h 458160"/>
              <a:gd name="connsiteX4" fmla="*/ 2560678 w 2743207"/>
              <a:gd name="connsiteY4" fmla="*/ 4644 h 458160"/>
              <a:gd name="connsiteX5" fmla="*/ 2743207 w 2743207"/>
              <a:gd name="connsiteY5" fmla="*/ 228600 h 458160"/>
              <a:gd name="connsiteX6" fmla="*/ 2514607 w 2743207"/>
              <a:gd name="connsiteY6" fmla="*/ 457200 h 458160"/>
              <a:gd name="connsiteX7" fmla="*/ 2511147 w 2743207"/>
              <a:gd name="connsiteY7" fmla="*/ 456851 h 458160"/>
              <a:gd name="connsiteX8" fmla="*/ 2511480 w 2743207"/>
              <a:gd name="connsiteY8" fmla="*/ 457200 h 458160"/>
              <a:gd name="connsiteX9" fmla="*/ 2147704 w 2743207"/>
              <a:gd name="connsiteY9" fmla="*/ 457200 h 458160"/>
              <a:gd name="connsiteX10" fmla="*/ 2148840 w 2743207"/>
              <a:gd name="connsiteY10" fmla="*/ 458160 h 458160"/>
              <a:gd name="connsiteX11" fmla="*/ 0 w 2743207"/>
              <a:gd name="connsiteY11" fmla="*/ 458160 h 458160"/>
              <a:gd name="connsiteX12" fmla="*/ 0 w 2743207"/>
              <a:gd name="connsiteY12" fmla="*/ 960 h 458160"/>
              <a:gd name="connsiteX13" fmla="*/ 182882 w 2743207"/>
              <a:gd name="connsiteY13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743207" h="458160">
                <a:moveTo>
                  <a:pt x="182882" y="0"/>
                </a:moveTo>
                <a:lnTo>
                  <a:pt x="2514607" y="0"/>
                </a:lnTo>
                <a:lnTo>
                  <a:pt x="2520685" y="0"/>
                </a:lnTo>
                <a:lnTo>
                  <a:pt x="2519933" y="537"/>
                </a:lnTo>
                <a:lnTo>
                  <a:pt x="2560678" y="4644"/>
                </a:lnTo>
                <a:cubicBezTo>
                  <a:pt x="2664847" y="25961"/>
                  <a:pt x="2743207" y="118130"/>
                  <a:pt x="2743207" y="228600"/>
                </a:cubicBezTo>
                <a:cubicBezTo>
                  <a:pt x="2743207" y="354852"/>
                  <a:pt x="2640859" y="457200"/>
                  <a:pt x="2514607" y="457200"/>
                </a:cubicBezTo>
                <a:lnTo>
                  <a:pt x="2511147" y="456851"/>
                </a:lnTo>
                <a:lnTo>
                  <a:pt x="2511480" y="457200"/>
                </a:lnTo>
                <a:lnTo>
                  <a:pt x="2147704" y="457200"/>
                </a:lnTo>
                <a:lnTo>
                  <a:pt x="214884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2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368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97102573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4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9" y="108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023828" y="3420000"/>
            <a:ext cx="5760170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843808" y="2250000"/>
            <a:ext cx="594019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6" name="Inhaltsplatzhalter 23"/>
          <p:cNvSpPr>
            <a:spLocks noGrp="1"/>
          </p:cNvSpPr>
          <p:nvPr>
            <p:ph sz="half" idx="31" hasCustomPrompt="1"/>
          </p:nvPr>
        </p:nvSpPr>
        <p:spPr>
          <a:xfrm>
            <a:off x="0" y="3708000"/>
            <a:ext cx="2880000" cy="540000"/>
          </a:xfrm>
          <a:custGeom>
            <a:avLst/>
            <a:gdLst>
              <a:gd name="connsiteX0" fmla="*/ 365762 w 2926087"/>
              <a:gd name="connsiteY0" fmla="*/ 0 h 458160"/>
              <a:gd name="connsiteX1" fmla="*/ 2697487 w 2926087"/>
              <a:gd name="connsiteY1" fmla="*/ 0 h 458160"/>
              <a:gd name="connsiteX2" fmla="*/ 2703565 w 2926087"/>
              <a:gd name="connsiteY2" fmla="*/ 0 h 458160"/>
              <a:gd name="connsiteX3" fmla="*/ 2702813 w 2926087"/>
              <a:gd name="connsiteY3" fmla="*/ 537 h 458160"/>
              <a:gd name="connsiteX4" fmla="*/ 2743558 w 2926087"/>
              <a:gd name="connsiteY4" fmla="*/ 4644 h 458160"/>
              <a:gd name="connsiteX5" fmla="*/ 2926087 w 2926087"/>
              <a:gd name="connsiteY5" fmla="*/ 228600 h 458160"/>
              <a:gd name="connsiteX6" fmla="*/ 2697487 w 2926087"/>
              <a:gd name="connsiteY6" fmla="*/ 457200 h 458160"/>
              <a:gd name="connsiteX7" fmla="*/ 2694027 w 2926087"/>
              <a:gd name="connsiteY7" fmla="*/ 456851 h 458160"/>
              <a:gd name="connsiteX8" fmla="*/ 2694360 w 2926087"/>
              <a:gd name="connsiteY8" fmla="*/ 457200 h 458160"/>
              <a:gd name="connsiteX9" fmla="*/ 2330584 w 2926087"/>
              <a:gd name="connsiteY9" fmla="*/ 457200 h 458160"/>
              <a:gd name="connsiteX10" fmla="*/ 2331720 w 2926087"/>
              <a:gd name="connsiteY10" fmla="*/ 458160 h 458160"/>
              <a:gd name="connsiteX11" fmla="*/ 182880 w 2926087"/>
              <a:gd name="connsiteY11" fmla="*/ 458160 h 458160"/>
              <a:gd name="connsiteX12" fmla="*/ 0 w 2926087"/>
              <a:gd name="connsiteY12" fmla="*/ 458160 h 458160"/>
              <a:gd name="connsiteX13" fmla="*/ 0 w 2926087"/>
              <a:gd name="connsiteY13" fmla="*/ 960 h 458160"/>
              <a:gd name="connsiteX14" fmla="*/ 182880 w 2926087"/>
              <a:gd name="connsiteY14" fmla="*/ 960 h 458160"/>
              <a:gd name="connsiteX15" fmla="*/ 365762 w 2926087"/>
              <a:gd name="connsiteY15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926087" h="458160">
                <a:moveTo>
                  <a:pt x="365762" y="0"/>
                </a:moveTo>
                <a:lnTo>
                  <a:pt x="2697487" y="0"/>
                </a:lnTo>
                <a:lnTo>
                  <a:pt x="2703565" y="0"/>
                </a:lnTo>
                <a:lnTo>
                  <a:pt x="2702813" y="537"/>
                </a:lnTo>
                <a:lnTo>
                  <a:pt x="2743558" y="4644"/>
                </a:lnTo>
                <a:cubicBezTo>
                  <a:pt x="2847727" y="25961"/>
                  <a:pt x="2926087" y="118130"/>
                  <a:pt x="2926087" y="228600"/>
                </a:cubicBezTo>
                <a:cubicBezTo>
                  <a:pt x="2926087" y="354852"/>
                  <a:pt x="2823739" y="457200"/>
                  <a:pt x="2697487" y="457200"/>
                </a:cubicBezTo>
                <a:lnTo>
                  <a:pt x="2694027" y="456851"/>
                </a:lnTo>
                <a:lnTo>
                  <a:pt x="2694360" y="457200"/>
                </a:lnTo>
                <a:lnTo>
                  <a:pt x="2330584" y="457200"/>
                </a:lnTo>
                <a:lnTo>
                  <a:pt x="2331720" y="458160"/>
                </a:lnTo>
                <a:lnTo>
                  <a:pt x="18288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0" y="960"/>
                </a:lnTo>
                <a:lnTo>
                  <a:pt x="36576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Inhaltsplatzhalter 17"/>
          <p:cNvSpPr>
            <a:spLocks noGrp="1"/>
          </p:cNvSpPr>
          <p:nvPr>
            <p:ph sz="half" idx="34" hasCustomPrompt="1"/>
          </p:nvPr>
        </p:nvSpPr>
        <p:spPr>
          <a:xfrm>
            <a:off x="0" y="2538000"/>
            <a:ext cx="2700000" cy="540000"/>
          </a:xfrm>
          <a:custGeom>
            <a:avLst/>
            <a:gdLst>
              <a:gd name="connsiteX0" fmla="*/ 182882 w 2743207"/>
              <a:gd name="connsiteY0" fmla="*/ 0 h 458160"/>
              <a:gd name="connsiteX1" fmla="*/ 2514607 w 2743207"/>
              <a:gd name="connsiteY1" fmla="*/ 0 h 458160"/>
              <a:gd name="connsiteX2" fmla="*/ 2520685 w 2743207"/>
              <a:gd name="connsiteY2" fmla="*/ 0 h 458160"/>
              <a:gd name="connsiteX3" fmla="*/ 2519933 w 2743207"/>
              <a:gd name="connsiteY3" fmla="*/ 537 h 458160"/>
              <a:gd name="connsiteX4" fmla="*/ 2560678 w 2743207"/>
              <a:gd name="connsiteY4" fmla="*/ 4644 h 458160"/>
              <a:gd name="connsiteX5" fmla="*/ 2743207 w 2743207"/>
              <a:gd name="connsiteY5" fmla="*/ 228600 h 458160"/>
              <a:gd name="connsiteX6" fmla="*/ 2514607 w 2743207"/>
              <a:gd name="connsiteY6" fmla="*/ 457200 h 458160"/>
              <a:gd name="connsiteX7" fmla="*/ 2511147 w 2743207"/>
              <a:gd name="connsiteY7" fmla="*/ 456851 h 458160"/>
              <a:gd name="connsiteX8" fmla="*/ 2511480 w 2743207"/>
              <a:gd name="connsiteY8" fmla="*/ 457200 h 458160"/>
              <a:gd name="connsiteX9" fmla="*/ 2147704 w 2743207"/>
              <a:gd name="connsiteY9" fmla="*/ 457200 h 458160"/>
              <a:gd name="connsiteX10" fmla="*/ 2148840 w 2743207"/>
              <a:gd name="connsiteY10" fmla="*/ 458160 h 458160"/>
              <a:gd name="connsiteX11" fmla="*/ 0 w 2743207"/>
              <a:gd name="connsiteY11" fmla="*/ 458160 h 458160"/>
              <a:gd name="connsiteX12" fmla="*/ 0 w 2743207"/>
              <a:gd name="connsiteY12" fmla="*/ 960 h 458160"/>
              <a:gd name="connsiteX13" fmla="*/ 182882 w 2743207"/>
              <a:gd name="connsiteY13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743207" h="458160">
                <a:moveTo>
                  <a:pt x="182882" y="0"/>
                </a:moveTo>
                <a:lnTo>
                  <a:pt x="2514607" y="0"/>
                </a:lnTo>
                <a:lnTo>
                  <a:pt x="2520685" y="0"/>
                </a:lnTo>
                <a:lnTo>
                  <a:pt x="2519933" y="537"/>
                </a:lnTo>
                <a:lnTo>
                  <a:pt x="2560678" y="4644"/>
                </a:lnTo>
                <a:cubicBezTo>
                  <a:pt x="2664847" y="25961"/>
                  <a:pt x="2743207" y="118130"/>
                  <a:pt x="2743207" y="228600"/>
                </a:cubicBezTo>
                <a:cubicBezTo>
                  <a:pt x="2743207" y="354852"/>
                  <a:pt x="2640859" y="457200"/>
                  <a:pt x="2514607" y="457200"/>
                </a:cubicBezTo>
                <a:lnTo>
                  <a:pt x="2511147" y="456851"/>
                </a:lnTo>
                <a:lnTo>
                  <a:pt x="2511480" y="457200"/>
                </a:lnTo>
                <a:lnTo>
                  <a:pt x="2147704" y="457200"/>
                </a:lnTo>
                <a:lnTo>
                  <a:pt x="214884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8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368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41407491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«Fragen»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baseline="0"/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CH" noProof="0" dirty="0"/>
              <a:t>«Vielen Dank für Ihre Aufmerksamkeit»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1260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1512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  <p:pic>
        <p:nvPicPr>
          <p:cNvPr id="7" name="Inhaltsplatzhalter 7">
            <a:extLst>
              <a:ext uri="{FF2B5EF4-FFF2-40B4-BE49-F238E27FC236}">
                <a16:creationId xmlns:a16="http://schemas.microsoft.com/office/drawing/2014/main" id="{ECF287E3-741C-004F-A0BA-1A2BA0C0FEBF}"/>
              </a:ext>
            </a:extLst>
          </p:cNvPr>
          <p:cNvPicPr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146"/>
          <a:stretch/>
        </p:blipFill>
        <p:spPr>
          <a:xfrm>
            <a:off x="0" y="2016000"/>
            <a:ext cx="9144000" cy="3127500"/>
          </a:xfrm>
          <a:prstGeom prst="rect">
            <a:avLst/>
          </a:prstGeom>
        </p:spPr>
      </p:pic>
      <p:sp>
        <p:nvSpPr>
          <p:cNvPr id="10" name="Textfeld 9"/>
          <p:cNvSpPr txBox="1"/>
          <p:nvPr userDrawn="1"/>
        </p:nvSpPr>
        <p:spPr>
          <a:xfrm rot="20390563">
            <a:off x="3745193" y="2430129"/>
            <a:ext cx="1525648" cy="1323439"/>
          </a:xfrm>
          <a:prstGeom prst="rect">
            <a:avLst/>
          </a:prstGeom>
          <a:solidFill>
            <a:srgbClr val="F4F4F4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de-CH" sz="8000" dirty="0">
                <a:solidFill>
                  <a:srgbClr val="8E8E8E"/>
                </a:solidFill>
              </a:rPr>
              <a:t>?</a:t>
            </a:r>
            <a:endParaRPr lang="en-US" sz="8000" dirty="0">
              <a:solidFill>
                <a:srgbClr val="8E8E8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810396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226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«Fragen»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>
              <a:defRPr/>
            </a:lvl1pPr>
          </a:lstStyle>
          <a:p>
            <a:r>
              <a:rPr lang="de-CH" noProof="0" dirty="0"/>
              <a:t>«Vielen Dank für Ihre Aufmerksamkeit»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2880000"/>
            <a:ext cx="7200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3132000"/>
            <a:ext cx="7200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</p:spTree>
    <p:extLst>
      <p:ext uri="{BB962C8B-B14F-4D97-AF65-F5344CB8AC3E}">
        <p14:creationId xmlns:p14="http://schemas.microsoft.com/office/powerpoint/2010/main" val="21567461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21.xml"/><Relationship Id="rId26" Type="http://schemas.openxmlformats.org/officeDocument/2006/relationships/slideLayout" Target="../slideLayouts/slideLayout29.xml"/><Relationship Id="rId21" Type="http://schemas.openxmlformats.org/officeDocument/2006/relationships/slideLayout" Target="../slideLayouts/slideLayout24.xml"/><Relationship Id="rId34" Type="http://schemas.openxmlformats.org/officeDocument/2006/relationships/slideLayout" Target="../slideLayouts/slideLayout37.xml"/><Relationship Id="rId7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20.xml"/><Relationship Id="rId25" Type="http://schemas.openxmlformats.org/officeDocument/2006/relationships/slideLayout" Target="../slideLayouts/slideLayout28.xml"/><Relationship Id="rId33" Type="http://schemas.openxmlformats.org/officeDocument/2006/relationships/slideLayout" Target="../slideLayouts/slideLayout36.xml"/><Relationship Id="rId2" Type="http://schemas.openxmlformats.org/officeDocument/2006/relationships/slideLayout" Target="../slideLayouts/slideLayout5.xml"/><Relationship Id="rId16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3.xml"/><Relationship Id="rId29" Type="http://schemas.openxmlformats.org/officeDocument/2006/relationships/slideLayout" Target="../slideLayouts/slideLayout32.xml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4.xml"/><Relationship Id="rId24" Type="http://schemas.openxmlformats.org/officeDocument/2006/relationships/slideLayout" Target="../slideLayouts/slideLayout27.xml"/><Relationship Id="rId32" Type="http://schemas.openxmlformats.org/officeDocument/2006/relationships/slideLayout" Target="../slideLayouts/slideLayout35.xml"/><Relationship Id="rId37" Type="http://schemas.openxmlformats.org/officeDocument/2006/relationships/image" Target="../media/image1.png"/><Relationship Id="rId5" Type="http://schemas.openxmlformats.org/officeDocument/2006/relationships/slideLayout" Target="../slideLayouts/slideLayout8.xml"/><Relationship Id="rId15" Type="http://schemas.openxmlformats.org/officeDocument/2006/relationships/slideLayout" Target="../slideLayouts/slideLayout18.xml"/><Relationship Id="rId23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31.xml"/><Relationship Id="rId36" Type="http://schemas.openxmlformats.org/officeDocument/2006/relationships/theme" Target="../theme/theme2.xml"/><Relationship Id="rId10" Type="http://schemas.openxmlformats.org/officeDocument/2006/relationships/slideLayout" Target="../slideLayouts/slideLayout13.xml"/><Relationship Id="rId19" Type="http://schemas.openxmlformats.org/officeDocument/2006/relationships/slideLayout" Target="../slideLayouts/slideLayout22.xml"/><Relationship Id="rId31" Type="http://schemas.openxmlformats.org/officeDocument/2006/relationships/slideLayout" Target="../slideLayouts/slideLayout34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7.xml"/><Relationship Id="rId22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30.xml"/><Relationship Id="rId30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8.xml"/><Relationship Id="rId8" Type="http://schemas.openxmlformats.org/officeDocument/2006/relationships/slideLayout" Target="../slideLayouts/slideLayout11.xml"/><Relationship Id="rId3" Type="http://schemas.openxmlformats.org/officeDocument/2006/relationships/slideLayout" Target="../slideLayouts/slideLayout6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40.xml"/><Relationship Id="rId1" Type="http://schemas.openxmlformats.org/officeDocument/2006/relationships/slideLayout" Target="../slideLayouts/slideLayout39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 der Vorlesung»</a:t>
            </a:r>
          </a:p>
        </p:txBody>
      </p:sp>
      <p:cxnSp>
        <p:nvCxnSpPr>
          <p:cNvPr id="3" name="Gerader Verbinder 2"/>
          <p:cNvCxnSpPr/>
          <p:nvPr userDrawn="1"/>
        </p:nvCxnSpPr>
        <p:spPr>
          <a:xfrm>
            <a:off x="360000" y="1008000"/>
            <a:ext cx="8568000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tx1"/>
                </a:gs>
                <a:gs pos="59000">
                  <a:schemeClr val="tx1"/>
                </a:gs>
                <a:gs pos="86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2" descr="https://intern.unibe.ch/unibe/uniintern/content/e1883/e683686/e684360/e699238/Unibe_Logo_16pt_RGB_201807_ger.png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336" y="0"/>
            <a:ext cx="1323206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666430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789" r:id="rId2"/>
    <p:sldLayoutId id="2147483792" r:id="rId3"/>
  </p:sldLayoutIdLst>
  <p:hf hd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800" b="0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32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4" name="Textplatzhalter 13"/>
          <p:cNvSpPr>
            <a:spLocks noGrp="1"/>
          </p:cNvSpPr>
          <p:nvPr>
            <p:ph type="body" idx="1"/>
          </p:nvPr>
        </p:nvSpPr>
        <p:spPr>
          <a:xfrm>
            <a:off x="360000" y="1080000"/>
            <a:ext cx="8424000" cy="3456000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/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6" name="Fußzeilenplatzhalter 15"/>
          <p:cNvSpPr>
            <a:spLocks noGrp="1"/>
          </p:cNvSpPr>
          <p:nvPr>
            <p:ph type="ftr" sz="quarter" idx="3"/>
          </p:nvPr>
        </p:nvSpPr>
        <p:spPr>
          <a:xfrm>
            <a:off x="359532" y="4860000"/>
            <a:ext cx="7992888" cy="180000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17" name="Foliennummernplatzhalter 16"/>
          <p:cNvSpPr>
            <a:spLocks noGrp="1"/>
          </p:cNvSpPr>
          <p:nvPr>
            <p:ph type="sldNum" sz="quarter" idx="4"/>
          </p:nvPr>
        </p:nvSpPr>
        <p:spPr>
          <a:xfrm>
            <a:off x="8388000" y="4860000"/>
            <a:ext cx="396000" cy="180000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r">
              <a:defRPr sz="800" b="1"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pic>
        <p:nvPicPr>
          <p:cNvPr id="1026" name="Picture 2" descr="https://intern.unibe.ch/unibe/uniintern/content/e1883/e683686/e684360/e699238/Unibe_Logo_16pt_RGB_201807_ger.png"/>
          <p:cNvPicPr>
            <a:picLocks noChangeAspect="1" noChangeArrowheads="1"/>
          </p:cNvPicPr>
          <p:nvPr userDrawn="1"/>
        </p:nvPicPr>
        <p:blipFill>
          <a:blip r:embed="rId3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336" y="0"/>
            <a:ext cx="1323206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Gerader Verbinder 9"/>
          <p:cNvCxnSpPr/>
          <p:nvPr userDrawn="1"/>
        </p:nvCxnSpPr>
        <p:spPr>
          <a:xfrm>
            <a:off x="360000" y="1008000"/>
            <a:ext cx="8568000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tx1"/>
                </a:gs>
                <a:gs pos="59000">
                  <a:schemeClr val="tx1"/>
                </a:gs>
                <a:gs pos="86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01872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1" r:id="rId1"/>
    <p:sldLayoutId id="2147483740" r:id="rId2"/>
    <p:sldLayoutId id="2147483796" r:id="rId3"/>
    <p:sldLayoutId id="2147483798" r:id="rId4"/>
    <p:sldLayoutId id="2147483804" r:id="rId5"/>
    <p:sldLayoutId id="2147483805" r:id="rId6"/>
    <p:sldLayoutId id="2147483806" r:id="rId7"/>
    <p:sldLayoutId id="2147483797" r:id="rId8"/>
    <p:sldLayoutId id="2147483799" r:id="rId9"/>
    <p:sldLayoutId id="2147483801" r:id="rId10"/>
    <p:sldLayoutId id="2147483800" r:id="rId11"/>
    <p:sldLayoutId id="2147483802" r:id="rId12"/>
    <p:sldLayoutId id="2147483803" r:id="rId13"/>
    <p:sldLayoutId id="2147483807" r:id="rId14"/>
    <p:sldLayoutId id="2147483808" r:id="rId15"/>
    <p:sldLayoutId id="2147483809" r:id="rId16"/>
    <p:sldLayoutId id="2147483810" r:id="rId17"/>
    <p:sldLayoutId id="2147483811" r:id="rId18"/>
    <p:sldLayoutId id="2147483812" r:id="rId19"/>
    <p:sldLayoutId id="2147483813" r:id="rId20"/>
    <p:sldLayoutId id="2147483814" r:id="rId21"/>
    <p:sldLayoutId id="2147483816" r:id="rId22"/>
    <p:sldLayoutId id="2147483815" r:id="rId23"/>
    <p:sldLayoutId id="2147483818" r:id="rId24"/>
    <p:sldLayoutId id="2147483824" r:id="rId25"/>
    <p:sldLayoutId id="2147483820" r:id="rId26"/>
    <p:sldLayoutId id="2147483826" r:id="rId27"/>
    <p:sldLayoutId id="2147483817" r:id="rId28"/>
    <p:sldLayoutId id="2147483821" r:id="rId29"/>
    <p:sldLayoutId id="2147483819" r:id="rId30"/>
    <p:sldLayoutId id="2147483822" r:id="rId31"/>
    <p:sldLayoutId id="2147483823" r:id="rId32"/>
    <p:sldLayoutId id="2147483827" r:id="rId33"/>
    <p:sldLayoutId id="2147483825" r:id="rId34"/>
    <p:sldLayoutId id="2147483828" r:id="rId35"/>
  </p:sldLayoutIdLst>
  <p:hf hd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800" b="0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32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«Bedankung»</a:t>
            </a:r>
          </a:p>
        </p:txBody>
      </p:sp>
      <p:pic>
        <p:nvPicPr>
          <p:cNvPr id="1026" name="Picture 2" descr="https://intern.unibe.ch/unibe/uniintern/content/e1883/e683686/e684360/e699238/Unibe_Logo_16pt_RGB_201807_ger.png"/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336" y="0"/>
            <a:ext cx="1323206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Gerader Verbinder 6"/>
          <p:cNvCxnSpPr/>
          <p:nvPr userDrawn="1"/>
        </p:nvCxnSpPr>
        <p:spPr>
          <a:xfrm>
            <a:off x="360000" y="1008000"/>
            <a:ext cx="8568000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tx1"/>
                </a:gs>
                <a:gs pos="59000">
                  <a:schemeClr val="tx1"/>
                </a:gs>
                <a:gs pos="86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64852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4" r:id="rId1"/>
    <p:sldLayoutId id="2147483795" r:id="rId2"/>
  </p:sldLayoutIdLst>
  <p:hf hd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800" b="0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32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sz="1400" noProof="0" dirty="0"/>
              <a:t>BA Thesis Presentation</a:t>
            </a:r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 noProof="0" dirty="0"/>
              <a:t>Development of a Reference Application for the OWASP Mobile Application Security Testing Guide (MASTG)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noProof="0" dirty="0"/>
              <a:t>Dominic Kronig, Software Engineering Group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rPr lang="en-US" noProof="0" dirty="0"/>
              <a:t>10.02.2026 Engehalde Bern</a:t>
            </a:r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198774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60A0-D67C-A722-3DAB-AA33D708D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45C3CB5-A282-30D8-22A2-FD1E1FF7F3C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The Problem in Numbers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5043144B-0AA1-C080-E282-449EFCCFA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Android App Security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CA742AD-C2CF-78CE-281C-ABD846F3CB3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noProof="0" dirty="0"/>
              <a:t>(Ferrari et al., 2025; Stevenson &amp; Das, 2025 )</a:t>
            </a: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E040E96-317A-C10D-4B2B-31D6C089B9D6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1FC7BB2-8FB3-9A88-4C83-5936E9011CD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</a:t>
            </a:fld>
            <a:endParaRPr lang="en-US" noProof="0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ADA47EF-7EB6-938E-6E09-56430F4CA70D}"/>
              </a:ext>
            </a:extLst>
          </p:cNvPr>
          <p:cNvSpPr txBox="1"/>
          <p:nvPr/>
        </p:nvSpPr>
        <p:spPr>
          <a:xfrm>
            <a:off x="603501" y="2104080"/>
            <a:ext cx="1952275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39</a:t>
            </a:r>
            <a:r>
              <a:rPr lang="en-US" sz="8000" noProof="0" dirty="0"/>
              <a:t> </a:t>
            </a:r>
          </a:p>
          <a:p>
            <a:pPr algn="ctr"/>
            <a:r>
              <a:rPr lang="en-US" sz="1400" noProof="0" dirty="0"/>
              <a:t>vulnerabilities per app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F023A3C-46D8-3046-6EBE-17844C562EB6}"/>
              </a:ext>
            </a:extLst>
          </p:cNvPr>
          <p:cNvSpPr txBox="1"/>
          <p:nvPr/>
        </p:nvSpPr>
        <p:spPr>
          <a:xfrm>
            <a:off x="3257854" y="2088691"/>
            <a:ext cx="219624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63%</a:t>
            </a:r>
            <a:r>
              <a:rPr lang="en-US" sz="8000" noProof="0" dirty="0">
                <a:solidFill>
                  <a:schemeClr val="bg2"/>
                </a:solidFill>
              </a:rPr>
              <a:t> </a:t>
            </a:r>
          </a:p>
          <a:p>
            <a:pPr algn="ctr"/>
            <a:r>
              <a:rPr lang="en-US" sz="1400" noProof="0" dirty="0"/>
              <a:t>apps show vulnerabilities</a:t>
            </a:r>
          </a:p>
        </p:txBody>
      </p:sp>
      <p:sp>
        <p:nvSpPr>
          <p:cNvPr id="2" name="Inhaltsplatzhalter 9">
            <a:extLst>
              <a:ext uri="{FF2B5EF4-FFF2-40B4-BE49-F238E27FC236}">
                <a16:creationId xmlns:a16="http://schemas.microsoft.com/office/drawing/2014/main" id="{7B402A66-69FE-A1BE-113F-727ECEA35F08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Across the 18 most popular Android categories: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87168FD6-B4C1-5963-D727-EB311A08E10E}"/>
              </a:ext>
            </a:extLst>
          </p:cNvPr>
          <p:cNvSpPr txBox="1"/>
          <p:nvPr/>
        </p:nvSpPr>
        <p:spPr>
          <a:xfrm>
            <a:off x="6020219" y="2135193"/>
            <a:ext cx="2584230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74%</a:t>
            </a:r>
            <a:r>
              <a:rPr lang="en-US" sz="8000" noProof="0" dirty="0">
                <a:solidFill>
                  <a:schemeClr val="bg2"/>
                </a:solidFill>
              </a:rPr>
              <a:t> </a:t>
            </a:r>
          </a:p>
          <a:p>
            <a:pPr algn="ctr"/>
            <a:r>
              <a:rPr lang="en-US" sz="1400" noProof="0" dirty="0"/>
              <a:t>display an OWASP top 10 risk</a:t>
            </a:r>
          </a:p>
        </p:txBody>
      </p:sp>
    </p:spTree>
    <p:extLst>
      <p:ext uri="{BB962C8B-B14F-4D97-AF65-F5344CB8AC3E}">
        <p14:creationId xmlns:p14="http://schemas.microsoft.com/office/powerpoint/2010/main" val="32252030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50C99-124A-67D2-EF47-1F37253D1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FA04CAC0-6033-2AB6-1F69-3CF95F0B906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The Problem in Numbers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169F7D56-4C24-5A78-5495-4FEBFAB14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Android App Security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12AE9B35-6ADA-EB0B-B238-6F84CBA250D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noProof="0" dirty="0"/>
              <a:t>(Ferrari et al., 2025; Stevenson &amp; Das, 2025 )</a:t>
            </a: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4CDD032C-8AA8-3676-6FB4-7121AB69D88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FB569033-5D13-719B-5E32-3A438F1059A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</a:t>
            </a:fld>
            <a:endParaRPr lang="en-US" noProof="0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454420CC-8A34-AF05-DE90-2E6363180B93}"/>
              </a:ext>
            </a:extLst>
          </p:cNvPr>
          <p:cNvSpPr txBox="1"/>
          <p:nvPr/>
        </p:nvSpPr>
        <p:spPr>
          <a:xfrm>
            <a:off x="603501" y="2104080"/>
            <a:ext cx="2520280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50%</a:t>
            </a:r>
            <a:r>
              <a:rPr lang="en-US" sz="8000" noProof="0" dirty="0"/>
              <a:t> </a:t>
            </a:r>
          </a:p>
          <a:p>
            <a:pPr algn="ctr"/>
            <a:r>
              <a:rPr lang="en-US" sz="1400" noProof="0" dirty="0"/>
              <a:t>use deprecated cryptography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942E64F4-CD40-B83C-62ED-71C96C8AA93E}"/>
              </a:ext>
            </a:extLst>
          </p:cNvPr>
          <p:cNvSpPr txBox="1"/>
          <p:nvPr/>
        </p:nvSpPr>
        <p:spPr>
          <a:xfrm>
            <a:off x="3473878" y="2104079"/>
            <a:ext cx="1764196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25%</a:t>
            </a:r>
            <a:r>
              <a:rPr lang="en-US" sz="8000" noProof="0" dirty="0"/>
              <a:t> </a:t>
            </a:r>
          </a:p>
          <a:p>
            <a:pPr algn="ctr"/>
            <a:r>
              <a:rPr lang="en-US" sz="1400" noProof="0" dirty="0"/>
              <a:t>access GPS data</a:t>
            </a:r>
          </a:p>
        </p:txBody>
      </p:sp>
      <p:sp>
        <p:nvSpPr>
          <p:cNvPr id="2" name="Inhaltsplatzhalter 9">
            <a:extLst>
              <a:ext uri="{FF2B5EF4-FFF2-40B4-BE49-F238E27FC236}">
                <a16:creationId xmlns:a16="http://schemas.microsoft.com/office/drawing/2014/main" id="{D12E1EB5-5188-B382-5623-886E44E5A49F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Of 272 mobile health apps in the US: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5884E02C-C233-0BFD-0D4A-84AE1CE6FD4E}"/>
              </a:ext>
            </a:extLst>
          </p:cNvPr>
          <p:cNvSpPr txBox="1"/>
          <p:nvPr/>
        </p:nvSpPr>
        <p:spPr>
          <a:xfrm>
            <a:off x="6015955" y="2355726"/>
            <a:ext cx="230046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42</a:t>
            </a:r>
            <a:endParaRPr lang="en-US" sz="8000" noProof="0" dirty="0">
              <a:solidFill>
                <a:schemeClr val="bg2"/>
              </a:solidFill>
            </a:endParaRPr>
          </a:p>
          <a:p>
            <a:pPr algn="ctr"/>
            <a:r>
              <a:rPr lang="en-US" sz="1400" noProof="0" dirty="0"/>
              <a:t>transmit unencrypted data</a:t>
            </a:r>
          </a:p>
        </p:txBody>
      </p:sp>
    </p:spTree>
    <p:extLst>
      <p:ext uri="{BB962C8B-B14F-4D97-AF65-F5344CB8AC3E}">
        <p14:creationId xmlns:p14="http://schemas.microsoft.com/office/powerpoint/2010/main" val="20848137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FE7E38-6FC8-9A74-E751-F1897FBC5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4B5DFD8-752C-5E56-6239-6D4C25EE2E8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The Causes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BF9D07BF-5DBF-E345-2C97-A0E806540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Android App Security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EF38F34-7DAE-CD2D-75EC-E4D6B16DABD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noProof="0" dirty="0"/>
              <a:t>(Ferrari et al., 2025; Stevenson &amp; Das, 2025 )</a:t>
            </a: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6BD8CA02-8B3F-C3DC-1651-B2874A4B56D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80BDC00-4339-00C2-BCB5-570591089C2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</a:t>
            </a:fld>
            <a:endParaRPr lang="en-US" noProof="0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52D563AD-B05D-A437-0454-184635DA06FC}"/>
              </a:ext>
            </a:extLst>
          </p:cNvPr>
          <p:cNvSpPr txBox="1"/>
          <p:nvPr/>
        </p:nvSpPr>
        <p:spPr>
          <a:xfrm>
            <a:off x="603501" y="2104080"/>
            <a:ext cx="195227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43%</a:t>
            </a:r>
            <a:r>
              <a:rPr lang="en-US" sz="8000" noProof="0" dirty="0"/>
              <a:t> </a:t>
            </a:r>
          </a:p>
          <a:p>
            <a:pPr algn="ctr"/>
            <a:r>
              <a:rPr lang="en-US" sz="1400" noProof="0" dirty="0"/>
              <a:t>of companies sacrifice </a:t>
            </a:r>
          </a:p>
          <a:p>
            <a:pPr algn="ctr"/>
            <a:r>
              <a:rPr lang="en-US" sz="1400" noProof="0" dirty="0"/>
              <a:t>security for speed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9918A12C-3BF3-B9BF-CD24-A6E3D72E5931}"/>
              </a:ext>
            </a:extLst>
          </p:cNvPr>
          <p:cNvSpPr txBox="1"/>
          <p:nvPr/>
        </p:nvSpPr>
        <p:spPr>
          <a:xfrm>
            <a:off x="3437874" y="2104080"/>
            <a:ext cx="183620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78%</a:t>
            </a:r>
            <a:r>
              <a:rPr lang="en-US" sz="8000" noProof="0" dirty="0"/>
              <a:t> </a:t>
            </a:r>
          </a:p>
          <a:p>
            <a:pPr algn="ctr"/>
            <a:r>
              <a:rPr lang="en-US" sz="1400" noProof="0" dirty="0"/>
              <a:t>of developers lacked </a:t>
            </a:r>
          </a:p>
          <a:p>
            <a:pPr algn="ctr"/>
            <a:r>
              <a:rPr lang="en-US" sz="1400" noProof="0" dirty="0"/>
              <a:t>security knowledge</a:t>
            </a:r>
          </a:p>
        </p:txBody>
      </p:sp>
      <p:sp>
        <p:nvSpPr>
          <p:cNvPr id="2" name="Inhaltsplatzhalter 9">
            <a:extLst>
              <a:ext uri="{FF2B5EF4-FFF2-40B4-BE49-F238E27FC236}">
                <a16:creationId xmlns:a16="http://schemas.microsoft.com/office/drawing/2014/main" id="{46C40631-22F1-001C-5473-F4A3A007657A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Study’s show: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2C942AF-2AFD-21B0-BDBD-6A6BCEDA314B}"/>
              </a:ext>
            </a:extLst>
          </p:cNvPr>
          <p:cNvSpPr txBox="1"/>
          <p:nvPr/>
        </p:nvSpPr>
        <p:spPr>
          <a:xfrm>
            <a:off x="6015955" y="2355726"/>
            <a:ext cx="258849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63%</a:t>
            </a:r>
            <a:endParaRPr lang="en-US" sz="8000" noProof="0" dirty="0">
              <a:solidFill>
                <a:schemeClr val="bg2"/>
              </a:solidFill>
            </a:endParaRPr>
          </a:p>
          <a:p>
            <a:pPr algn="ctr"/>
            <a:r>
              <a:rPr lang="en-US" sz="1400" noProof="0" dirty="0"/>
              <a:t>of developers cite security</a:t>
            </a:r>
          </a:p>
          <a:p>
            <a:pPr algn="ctr"/>
            <a:r>
              <a:rPr lang="en-US" sz="1400" noProof="0" dirty="0"/>
              <a:t>as too complex and expensive</a:t>
            </a:r>
          </a:p>
        </p:txBody>
      </p:sp>
    </p:spTree>
    <p:extLst>
      <p:ext uri="{BB962C8B-B14F-4D97-AF65-F5344CB8AC3E}">
        <p14:creationId xmlns:p14="http://schemas.microsoft.com/office/powerpoint/2010/main" val="25725211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2A447-830E-35E8-2A4E-F4CB5F279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D0C7159-3A9C-9E0A-67C8-E90393B9573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The Goals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3D3E65E5-755F-7414-B8FF-412C1BFE0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Understanding the Challenge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2B0271F4-9D9C-9885-13F9-C5696DA8BCD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What to do?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Avoid implementing vulnerabilities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-&gt; Make mobile security knowledge more accessible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Find existing vulnerabilities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-&gt; Improve and promote the best security testing tools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5DEE1DFE-829C-EF60-D6FE-232D0C660AD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F68EF483-9C7D-F49C-6D75-07B6BAF60A7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347BDF0-3E38-78D7-E5CC-14DA06A0999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35323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38361-CB1A-356C-FB9D-8009EE0B1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10D28B7-7496-B2C5-2B11-4E2C16B57ED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Mobile Security Knowledge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34A58033-1F69-CEE3-7731-CA538AB11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Understanding the Challenge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463B56FC-3291-C362-438D-C8910CCCD8DF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Improve educational resources 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OWASP (MASTG)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Reference apps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Problem: Lack of coverage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C49F020-5EA0-7EC7-C7AD-C23FCEB88D3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25800FB-27EF-77D8-02F8-FED4CFF6640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29478A35-B338-4E2F-E8A9-6CBE4FFD237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6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3602091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52B11E-9674-7AB8-C228-291A6DDF1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1A54E8B1-5D1E-34CB-FDA8-35AD55E9F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Understanding the Challenge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338A819-2FC9-5004-C0CA-F51549C59896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Tools for vulnerability detection</a:t>
            </a:r>
          </a:p>
          <a:p>
            <a:pPr>
              <a:lnSpc>
                <a:spcPct val="150000"/>
              </a:lnSpc>
            </a:pPr>
            <a:r>
              <a:rPr lang="en-US" b="1" noProof="0" dirty="0"/>
              <a:t>S</a:t>
            </a:r>
            <a:r>
              <a:rPr lang="en-US" noProof="0" dirty="0"/>
              <a:t>tatic &amp; </a:t>
            </a:r>
            <a:r>
              <a:rPr lang="en-US" b="1" noProof="0" dirty="0"/>
              <a:t>D</a:t>
            </a:r>
            <a:r>
              <a:rPr lang="en-US" noProof="0" dirty="0"/>
              <a:t>ynamic </a:t>
            </a:r>
            <a:r>
              <a:rPr lang="en-US" b="1" noProof="0" dirty="0"/>
              <a:t>A</a:t>
            </a:r>
            <a:r>
              <a:rPr lang="en-US" noProof="0" dirty="0"/>
              <a:t>pplication </a:t>
            </a:r>
            <a:r>
              <a:rPr lang="en-US" b="1" noProof="0" dirty="0"/>
              <a:t>S</a:t>
            </a:r>
            <a:r>
              <a:rPr lang="en-US" noProof="0" dirty="0"/>
              <a:t>ecurity </a:t>
            </a:r>
            <a:r>
              <a:rPr lang="en-US" b="1" noProof="0" dirty="0"/>
              <a:t>A</a:t>
            </a:r>
            <a:r>
              <a:rPr lang="en-US" noProof="0" dirty="0"/>
              <a:t>nalysis </a:t>
            </a:r>
            <a:r>
              <a:rPr lang="en-US" b="1" noProof="0" dirty="0"/>
              <a:t>T</a:t>
            </a:r>
            <a:r>
              <a:rPr lang="en-US" noProof="0" dirty="0"/>
              <a:t>esting (</a:t>
            </a:r>
            <a:r>
              <a:rPr lang="en-US" b="1" noProof="0" dirty="0"/>
              <a:t>SAST</a:t>
            </a:r>
            <a:r>
              <a:rPr lang="en-US" noProof="0" dirty="0"/>
              <a:t>, </a:t>
            </a:r>
            <a:r>
              <a:rPr lang="en-US" b="1" noProof="0" dirty="0"/>
              <a:t>DAST</a:t>
            </a:r>
            <a:r>
              <a:rPr lang="en-US" noProof="0" dirty="0"/>
              <a:t>)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Abundance of such tools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Problem: How to know which ones are good?</a:t>
            </a:r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A21B46C5-33D2-64C8-961A-18A8C5680B8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E499DC6-755C-B416-6DD7-5A98C8DBDDE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BDAB4CC4-6EDF-343E-6C02-77CCDA85F5C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7</a:t>
            </a:fld>
            <a:endParaRPr lang="en-US" noProof="0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939EF99-1679-F6D0-F2F5-CE31206A81D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Security Testing Tools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413845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6E9C4-3639-5E1B-E550-39781D41C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B894F11F-C60F-4202-1093-8BD92068C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Understanding the Challenge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145015F5-0DD1-B6E8-FD2A-E6D6F74830C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By developing well documented MASTG apps we…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…improve educational value of OWASP MASTG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...create a benchmark for evaluating SAST &amp; DAST tools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…solve both problems!</a:t>
            </a:r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5FB908D-D8BF-0C0D-86D6-982D494D17C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A0EEAA52-275F-03EC-1ABB-F9BA0F7BB88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B76F587-DA32-4C26-9E54-C563C5C41E4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8</a:t>
            </a:fld>
            <a:endParaRPr lang="en-US" noProof="0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7CBE579-753C-1D26-5C14-DC2F7F0F900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Our Purpose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4310144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BA3DB6-7C57-B148-C099-30341420A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CAF3FF4-860D-11D6-0BBF-688C6A53F58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6F6823B2-233E-B344-0204-D33C3D8C46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Presentation Outline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2FDDDCC1-3097-9AE7-217A-DE8C59FFD4D3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Background Knowledge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Connection to Academia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State of the Art in MASTG Reference </a:t>
            </a:r>
            <a:r>
              <a:rPr lang="en-US" dirty="0"/>
              <a:t>A</a:t>
            </a:r>
            <a:r>
              <a:rPr lang="en-US" noProof="0" dirty="0" err="1"/>
              <a:t>pps</a:t>
            </a:r>
            <a:endParaRPr lang="en-US" noProof="0" dirty="0"/>
          </a:p>
          <a:p>
            <a:pPr>
              <a:lnSpc>
                <a:spcPct val="150000"/>
              </a:lnSpc>
            </a:pPr>
            <a:r>
              <a:rPr lang="en-US" noProof="0" dirty="0"/>
              <a:t>Design of </a:t>
            </a:r>
            <a:r>
              <a:rPr lang="en-US" dirty="0"/>
              <a:t>O</a:t>
            </a:r>
            <a:r>
              <a:rPr lang="en-US" noProof="0" dirty="0" err="1"/>
              <a:t>ur</a:t>
            </a:r>
            <a:r>
              <a:rPr lang="en-US" noProof="0" dirty="0"/>
              <a:t> Apps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Results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Outlook</a:t>
            </a:r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A2534549-9D65-6315-AA9C-A6A1B7CA2AA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6C853293-6E22-37C3-798B-7DA75E98C43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CE666C26-B502-CD54-258D-FD1527F4A27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5304832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20AA4-DA55-7BE9-28F8-DC5DE6E32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EE18FE0-5110-221B-5E9A-3F39AE20B52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OWASP Ecosystem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8E793A1-DC25-04B5-F11E-1AF4DEBD9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Background Knowledge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9D7E1205-EBFA-81B7-68E4-06944F89FC13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592E8739-05C9-643E-6329-8C76AA742FF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DCC91783-C96B-0CB5-9140-6690022C945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7BA30DAA-2FA0-7775-2816-7E35F3909A3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10</a:t>
            </a:fld>
            <a:endParaRPr lang="en-US" noProof="0" dirty="0"/>
          </a:p>
        </p:txBody>
      </p:sp>
      <p:pic>
        <p:nvPicPr>
          <p:cNvPr id="3" name="Grafik 2" descr="Ein Bild, das Text, Grafikdesign, Buch, Design enthält.&#10;&#10;KI-generierte Inhalte können fehlerhaft sein.">
            <a:extLst>
              <a:ext uri="{FF2B5EF4-FFF2-40B4-BE49-F238E27FC236}">
                <a16:creationId xmlns:a16="http://schemas.microsoft.com/office/drawing/2014/main" id="{7F41B9A3-E85B-C6BC-33C8-A267C38BC8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7944" y="1793030"/>
            <a:ext cx="4932040" cy="2742970"/>
          </a:xfrm>
          <a:prstGeom prst="rect">
            <a:avLst/>
          </a:prstGeom>
        </p:spPr>
      </p:pic>
      <p:sp>
        <p:nvSpPr>
          <p:cNvPr id="5" name="Inhaltsplatzhalter 9">
            <a:extLst>
              <a:ext uri="{FF2B5EF4-FFF2-40B4-BE49-F238E27FC236}">
                <a16:creationId xmlns:a16="http://schemas.microsoft.com/office/drawing/2014/main" id="{3E282A58-1ECB-7B50-AE64-767C97DB40CD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b="1" noProof="0" dirty="0"/>
              <a:t>M</a:t>
            </a:r>
            <a:r>
              <a:rPr lang="en-US" noProof="0" dirty="0"/>
              <a:t>obile </a:t>
            </a:r>
            <a:r>
              <a:rPr lang="en-US" b="1" noProof="0" dirty="0"/>
              <a:t>A</a:t>
            </a:r>
            <a:r>
              <a:rPr lang="en-US" noProof="0" dirty="0"/>
              <a:t>pplication </a:t>
            </a:r>
            <a:r>
              <a:rPr lang="en-US" b="1" noProof="0" dirty="0"/>
              <a:t>S</a:t>
            </a:r>
            <a:r>
              <a:rPr lang="en-US" noProof="0" dirty="0"/>
              <a:t>ecurity project (</a:t>
            </a:r>
            <a:r>
              <a:rPr lang="en-US" b="1" noProof="0" dirty="0"/>
              <a:t>MAS</a:t>
            </a:r>
            <a:r>
              <a:rPr lang="en-US" noProof="0" dirty="0"/>
              <a:t>)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Assess security standards through tests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MASVS: What to test against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MASWE: What to test for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MASTG: How to test for it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148493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E0238-FD12-B8B5-6245-B53DD25E4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A6E3476D-2059-49CF-BA61-026DC8C4C42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9D09C25-DEA1-E475-00CF-92DFC1746B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Connection to Academia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32C4C2F1-99EA-EB79-69A3-6B4860CF2266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i="1" noProof="0" dirty="0"/>
              <a:t>Why do we care?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956B54C-C4A1-4D05-1591-C4C259FDC05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21260023-4C1B-18FF-8831-817A18FCA61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548258AF-B993-0756-3693-1451F585BD3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670422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AA0E9-9292-00CF-19C2-06B18A055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9D0AC68-22DF-03C3-A422-404F709D474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Methodology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2A52234-3AB0-E337-8297-E5B1C052E7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Connection to Academia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ED2AA30C-0E1E-3C86-6CDB-B182D64B11AF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Literature Review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“OWASP” &amp; “MASTG” on Google Scholar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Written in English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Published after 2023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15 Papers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93F8033-982D-063F-D0D2-5B7A79E922D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D4275D2-358A-7DCE-2EE6-BABA4E04A87C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3E60019-7183-A859-8E7D-287298EB34D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12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0771009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6AE6D-555F-5A35-2554-18A84DF37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843E294-50ED-0AE8-F066-0D6BE9E6841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87B1362-6F3D-120C-6BE7-0A0978275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Connection to Academia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A586177D-F91E-4FA9-848C-79F3EC6C5C79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MAS used for evaluating real-world apps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Strong presence of cryptography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Storage and platform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1D2333BE-601E-7505-AE51-D0C816A9802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D22C2F37-AE6B-1626-8596-6DECCEB388A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E5D31D3F-0D15-5AAC-CA0B-68144C3ED16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13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990292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33B7E-72D3-1709-B65C-B3D8DC698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D381B2E-4AFF-D4C0-6343-A568834FB8D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1ED5E6CC-8E9C-6CB3-1CF2-68F978E8B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Connection to Academia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79C9BA29-3B39-660E-ABE9-719786955148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MASTG reference apps used for: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Testing tools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Comparing to real-world apps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48CA5CC-A51D-381C-6849-0D90C9D653F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0BBC15E4-EE0A-3CA4-5E66-8A0625B0233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9BAEEFB-D1F0-912C-1FBB-43BC11BF772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14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3074218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B1F7E-92A6-4C6C-183A-68C0BC6EE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509BCEB-73EC-F2FF-D7D1-DC7CFAEB0E7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Understanding the Challenge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C682571B-C559-5183-3951-9894A7698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E1AB05A6-B10A-4874-6B0F-21E5160E7B46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Our goal is clear: develop MASTG reference apps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What makes a good reference app?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Analyze existing MASTG apps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2E852CA-1974-5955-9DD6-316FF4D74B2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B4A35F96-9ACA-F8A2-CEC7-8E162B9165A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2AE0C18-55B9-0E93-0E77-63AD3F17D32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5536233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28FFB0-9015-D5A5-681C-008FEF57C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CF5923D8-3BCC-5B07-EC1B-F39C32A70A3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Methodology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ABE2DD50-D408-7AE8-347A-8A64FFE59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2151D15C-CB8A-CA6E-794D-50DF1DFC5E23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Analyze source code and documentation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Map vulnerabilities to MASWE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Explore data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Challenge: Missing source code and documentation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AE9005D-2042-F804-CDA6-1D7854D2AD6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20CB5406-475E-4B6B-A55A-670388A42D3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22B8BAC-0D20-9867-86A3-4402B4FE104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16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460854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5086D-01E8-EF8E-A366-9C88BB021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48C1323-1CE5-8D56-723D-1E186BD730D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Methodology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D031E9E9-77B6-9FAC-3799-370FB413B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  <a:endParaRPr lang="en-US" noProof="0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A8F3FD39-A325-AE57-71B6-E5A7826E07E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Under </a:t>
            </a:r>
            <a:r>
              <a:rPr lang="en-US" b="1" dirty="0"/>
              <a:t>25</a:t>
            </a:r>
            <a:r>
              <a:rPr lang="en-US" b="1" noProof="0" dirty="0"/>
              <a:t> unique </a:t>
            </a:r>
            <a:r>
              <a:rPr lang="en-US" noProof="0" dirty="0"/>
              <a:t>apps hosted by OWASP MASTG...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	…there are </a:t>
            </a:r>
            <a:r>
              <a:rPr lang="en-US" b="1" dirty="0"/>
              <a:t>18 Android </a:t>
            </a:r>
            <a:r>
              <a:rPr lang="en-US" dirty="0"/>
              <a:t>apps…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	…with </a:t>
            </a:r>
            <a:r>
              <a:rPr lang="en-US" b="1" dirty="0"/>
              <a:t>12</a:t>
            </a:r>
            <a:r>
              <a:rPr lang="en-US" dirty="0"/>
              <a:t> having </a:t>
            </a:r>
            <a:r>
              <a:rPr lang="en-US" b="1" dirty="0"/>
              <a:t>source code</a:t>
            </a:r>
            <a:r>
              <a:rPr lang="en-US" dirty="0"/>
              <a:t>…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	…and </a:t>
            </a:r>
            <a:r>
              <a:rPr lang="en-US" b="1" dirty="0"/>
              <a:t>8 </a:t>
            </a:r>
            <a:r>
              <a:rPr lang="en-US" dirty="0"/>
              <a:t>have</a:t>
            </a:r>
            <a:r>
              <a:rPr lang="en-US" b="1" dirty="0"/>
              <a:t> vulnerability documentation </a:t>
            </a:r>
            <a:r>
              <a:rPr lang="en-US" dirty="0"/>
              <a:t>available.</a:t>
            </a:r>
          </a:p>
          <a:p>
            <a:pPr marL="0" indent="0">
              <a:lnSpc>
                <a:spcPct val="150000"/>
              </a:lnSpc>
              <a:buNone/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58BFC11F-17C3-3FFE-831E-E7BA60BC70B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FC65FEA-DCDB-3C60-8AA3-5244C3049CB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5A6EF2EA-915F-5F73-F52F-6B1FE29C422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17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9789236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7193B-18E5-03D2-58A2-BE9F93024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F4F34F2-AEBB-9762-D7DC-6D1EBE53C7B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Results Overview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A68EA11-9477-8242-54ED-E09A4647F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5E5F774C-1E66-C857-E977-E5E06B65D10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163 implemented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42/117 MASWE vulnerability types covered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75 vulnerability types with no reference implementation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737D8631-F40C-35F6-70A7-BB9A629EA7D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BDDC0F6-D720-7637-BBD8-88E0310663B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BCE2B882-AF6C-5C5C-65CF-24423AFCC97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18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4269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D5DEC-04F5-D8F7-910F-985C18DE5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F3F2570-A9A3-6042-C006-BD91C105D9B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Results Overview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6F8E6E3-A754-4021-C3AA-6813B0336B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89C32563-C6BC-9021-ED34-C767BFFAFA4C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Most vulnerabilities without reference implementation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Small group is completely overrepresented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Reflected in coverage by category as well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5E71139-B34B-9880-84D1-FFF83ECA4CF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261D2100-2ED0-86C4-E3F7-58ADC89BBB04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914923D-425F-6C2D-6E61-788A63689F3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2158194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9C200-C32E-0A2F-B9F6-73EF7AFBE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1EA6906-DE83-D868-78EC-96D02556B0F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Skewered Coverage of Vulnerability Types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0B665C04-AF5B-5616-9DFA-738B89A76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  <a:endParaRPr lang="en-US" noProof="0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B61C4AA6-DE64-4849-5979-342EB940CD8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Top 10 vulnerability types account for 53.4% of all implementations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5 of category platform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3 of category storage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C02DE1F-34AD-90C9-EDBE-24BFEBAA77E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4F7B802E-2DA0-812A-146C-74E3AABDBD1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9115836-5613-879F-A790-692FD7D1A23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20</a:t>
            </a:fld>
            <a:endParaRPr lang="en-US" noProof="0" dirty="0"/>
          </a:p>
        </p:txBody>
      </p:sp>
      <p:pic>
        <p:nvPicPr>
          <p:cNvPr id="2" name="Inhaltsplatzhalter 2" descr="Ein Bild, das Text, Screenshot, parallel, Reihe enthält.&#10;&#10;KI-generierte Inhalte können fehlerhaft sein.">
            <a:extLst>
              <a:ext uri="{FF2B5EF4-FFF2-40B4-BE49-F238E27FC236}">
                <a16:creationId xmlns:a16="http://schemas.microsoft.com/office/drawing/2014/main" id="{7FBD92A1-B005-D63C-5EF0-A01D236A99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4519" y="1774106"/>
            <a:ext cx="5501682" cy="2726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30365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1BC5B-78CB-C24B-853C-6E8A26D67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52E3904-4812-C9B7-5775-5D734B0397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Skewered Coverage of Vulnerability Categories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4B1AE32-53CC-B7F1-2010-D2EB1A2AC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  <a:endParaRPr lang="en-US" noProof="0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0E833CFD-4B51-B7FF-A14E-DE8807F4F35B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Favoring of storage and platform vulnerability types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Lack of privacy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D9BFD35-040A-29FC-8694-DBAA2AF676F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E9691BB3-45EB-BDE3-3471-265F3F81407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B8D5B11-6F07-5EAE-0F89-3022D9100E0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21</a:t>
            </a:fld>
            <a:endParaRPr lang="en-US" noProof="0" dirty="0"/>
          </a:p>
        </p:txBody>
      </p:sp>
      <p:pic>
        <p:nvPicPr>
          <p:cNvPr id="5" name="Grafik 4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256FF658-159D-EA96-4349-1EE40FE88F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2318" y="1771509"/>
            <a:ext cx="5501682" cy="2721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6157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0BB663-935E-D418-D37F-9CDC31D29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F7955161-BBF5-1C75-18DC-F62AEE7CA9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Skewered Coverage of Vulnerability Categories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89DEFCC-3F7D-AEC9-6D4C-44D424BE51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  <a:endParaRPr lang="en-US" noProof="0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01397524-03B4-9187-61DF-04916F51399F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Auth and Crypto have most unrepresented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Dominance of Platform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501A1E7-91B5-78F3-E471-1171396A468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453AFAC2-0924-DEA4-61BA-D0FA1ECA1F6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4B5349E-2C96-5882-F0EE-66BFBA34B92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22</a:t>
            </a:fld>
            <a:endParaRPr lang="en-US" noProof="0" dirty="0"/>
          </a:p>
        </p:txBody>
      </p:sp>
      <p:pic>
        <p:nvPicPr>
          <p:cNvPr id="6" name="Grafik 5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DDA69A8B-801C-26B7-1943-F53F23240E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2318" y="1817118"/>
            <a:ext cx="5500800" cy="2708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52901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1ACF5-18A0-EAE5-A8C8-475B7867D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ABFE2FA0-3875-E63F-A13E-92265A1C210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Take-Away Points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FB65092-B6F7-EA63-2473-E42A23A13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  <a:endParaRPr lang="en-US" noProof="0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196EB32-07BB-9EDA-EA78-295AE111AB68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Uneven coverage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Many without any implementation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Most implementations cover the same types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All vulnerabilities should have a reference implementation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307A860-3827-6F06-296E-00585923ABC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D4F15AF-8828-B4E0-C81F-00B70DDD2BC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B43B162-B6F0-67F0-A483-1AE252154D1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23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210045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C4075-1FC6-D5EE-574B-05F6521F0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42471FA-6B96-2A48-B81B-4A7D45A0B6E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Significance for Our Apps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7DEFD3A-84E7-AA54-1523-4EE85251E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 in MASTG Reference Apps</a:t>
            </a:r>
            <a:endParaRPr lang="en-US" noProof="0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8F4E58F5-2341-2B40-98FD-A10FF5E37FB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Completely open-source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Extensive documentation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Focus on MASVS-CRYPTO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Start with MASVS-STORAGE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14A3998-2A48-183B-C336-6441A00DCCF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5D2F4C98-D62D-01FF-2D8E-71E2DE1EAD76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FB0042D3-BCD3-7C80-60EC-0EDF161535C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24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2388177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42CDC-AE40-2043-91B5-FA9B459C8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F11FF47-86F5-05D9-C898-0FD3FB1997D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Modular Architecture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A743DB6-A94E-34CA-ECF4-4573D0607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</a:p>
        </p:txBody>
      </p:sp>
      <p:pic>
        <p:nvPicPr>
          <p:cNvPr id="3" name="Inhaltsplatzhalter 2" descr="Ein Bild, das Text, Screenshot, Diagramm, Rechteck enthält.&#10;&#10;KI-generierte Inhalte können fehlerhaft sein.">
            <a:extLst>
              <a:ext uri="{FF2B5EF4-FFF2-40B4-BE49-F238E27FC236}">
                <a16:creationId xmlns:a16="http://schemas.microsoft.com/office/drawing/2014/main" id="{E2EE6E93-9B74-0C77-0E18-1F5A13D3A9E1}"/>
              </a:ext>
            </a:extLst>
          </p:cNvPr>
          <p:cNvPicPr>
            <a:picLocks noGrp="1" noChangeAspect="1"/>
          </p:cNvPicPr>
          <p:nvPr>
            <p:ph sz="quarter" idx="2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6048" y="2159724"/>
            <a:ext cx="4517952" cy="2335776"/>
          </a:xfrm>
        </p:spPr>
      </p:pic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8B0D81D-B41B-8882-1E7F-4DF1DAFA2BC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0A18D5A3-4CB6-5CBC-5E17-9A197AE8E98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AA45B65B-3FDB-635B-543E-18F97EF8639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25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19386211-C073-B58E-3A7A-CB3A32FCDB1C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noProof="0" dirty="0"/>
              <a:t>Multiple, modular apps design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One app per MASVS category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Shared resources in “</a:t>
            </a:r>
            <a:r>
              <a:rPr lang="en-US" b="1" noProof="0" dirty="0"/>
              <a:t>common</a:t>
            </a:r>
            <a:r>
              <a:rPr lang="en-US" noProof="0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8491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3B27A-E95C-74E1-E657-A35EA9235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99251183-A64E-C3E4-A617-E0F19B34386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Modular Architecture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06D26FC-D5D3-DCFE-69BB-EB994D68A8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  <a:endParaRPr lang="en-US" noProof="0" dirty="0"/>
          </a:p>
        </p:txBody>
      </p:sp>
      <p:pic>
        <p:nvPicPr>
          <p:cNvPr id="3" name="Inhaltsplatzhalter 2" descr="Ein Bild, das Text, Screenshot, Diagramm, Rechteck enthält.&#10;&#10;KI-generierte Inhalte können fehlerhaft sein.">
            <a:extLst>
              <a:ext uri="{FF2B5EF4-FFF2-40B4-BE49-F238E27FC236}">
                <a16:creationId xmlns:a16="http://schemas.microsoft.com/office/drawing/2014/main" id="{39FB0F4B-0604-48D6-5FA8-589883FE9B71}"/>
              </a:ext>
            </a:extLst>
          </p:cNvPr>
          <p:cNvPicPr>
            <a:picLocks noGrp="1" noChangeAspect="1"/>
          </p:cNvPicPr>
          <p:nvPr>
            <p:ph sz="quarter" idx="2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6048" y="2159724"/>
            <a:ext cx="4517952" cy="2335776"/>
          </a:xfrm>
        </p:spPr>
      </p:pic>
      <p:sp>
        <p:nvSpPr>
          <p:cNvPr id="9" name="Textplatzhalter 8">
            <a:extLst>
              <a:ext uri="{FF2B5EF4-FFF2-40B4-BE49-F238E27FC236}">
                <a16:creationId xmlns:a16="http://schemas.microsoft.com/office/drawing/2014/main" id="{51DAD757-48CD-E760-F582-E81A85AB06C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4D28EB9-6470-81AE-EA64-FF03C1E7C3B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8FD7990-4D50-ECAC-CBD2-93FF4451EAE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26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70CBE864-B2D8-B83A-1CD0-64CD9314F1FC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Advantages: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Limited effect of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Standalone units</a:t>
            </a:r>
          </a:p>
          <a:p>
            <a:pPr>
              <a:lnSpc>
                <a:spcPct val="150000"/>
              </a:lnSpc>
            </a:pPr>
            <a:r>
              <a:rPr lang="en-US" dirty="0"/>
              <a:t>Isolated app development &amp; testing</a:t>
            </a:r>
            <a:endParaRPr lang="en-US" noProof="0" dirty="0"/>
          </a:p>
          <a:p>
            <a:pPr>
              <a:lnSpc>
                <a:spcPct val="150000"/>
              </a:lnSpc>
            </a:pPr>
            <a:r>
              <a:rPr lang="en-US" noProof="0" dirty="0"/>
              <a:t>Limit boilerplate code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Limit scaling costs</a:t>
            </a:r>
          </a:p>
        </p:txBody>
      </p:sp>
    </p:spTree>
    <p:extLst>
      <p:ext uri="{BB962C8B-B14F-4D97-AF65-F5344CB8AC3E}">
        <p14:creationId xmlns:p14="http://schemas.microsoft.com/office/powerpoint/2010/main" val="220941269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7FA1E-341F-8BF3-B879-1323A80C7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5A1168C3-B1AD-DF48-7D5C-4109B2CA5EF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Feature-Oriented Design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1D594F3-08DF-7CF7-3534-9A98B5D20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FE520D7-B1AD-FCFB-A875-ED1A73936F8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3EDA0F28-9026-6DC5-8295-CE0F015DB41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AFDA132-BB3F-E45F-AF5D-021E19D90BC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27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FFBA5577-CBEF-DDD8-0FD9-08D3116A8BFA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noProof="0" dirty="0"/>
              <a:t>Feature-oriented structure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One app package per vulnerability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Extendable with additional logic</a:t>
            </a:r>
          </a:p>
        </p:txBody>
      </p:sp>
      <p:pic>
        <p:nvPicPr>
          <p:cNvPr id="5" name="Grafik 4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80AEE2CF-16CB-8619-D2D4-E1D83A1C3F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7984" y="1754772"/>
            <a:ext cx="4356016" cy="2740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1216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7597DB-ECB8-CBF5-0D14-07E3433D2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A223E73-B6A5-7A24-A4FB-9E4C85937F5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Feature-Oriented Design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E6222B78-8354-CCA6-4C72-F34810038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13A58186-C5A9-0404-89A9-259AE96DE6C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5926C68F-407B-926D-1513-2298EFE451B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8DD64BA1-A8EC-B01C-2ABB-EAE316CCE78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28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DD5C48E1-FD84-3344-14BF-274A0E05A904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Advantages: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Separation of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Clean project structure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Isolated vulnerability development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Minimal scaling costs</a:t>
            </a:r>
          </a:p>
        </p:txBody>
      </p:sp>
      <p:pic>
        <p:nvPicPr>
          <p:cNvPr id="5" name="Grafik 4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B6550B34-5809-6263-E0B2-F37DA04655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7984" y="1754772"/>
            <a:ext cx="4356016" cy="2740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53691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9B7F7-2987-5E04-D84C-4FAC83272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6FF1D19E-7BB0-306B-E2A7-21DF5C5C337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Inheritance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F717414E-C47E-59F9-7709-B86A86DE7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BAD108E-429F-54C7-33F7-366CE777629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7311FA4-6A87-450E-011C-27639209378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B88DAF8-E1C7-3AB9-786A-2940A9D78CC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29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335B089B-76F4-175A-A4D3-709819664C2F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All vulnerabilities share: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Login &amp; registration logic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Activity layouts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Mostly differ in encryption and storage</a:t>
            </a:r>
          </a:p>
        </p:txBody>
      </p:sp>
      <p:pic>
        <p:nvPicPr>
          <p:cNvPr id="3" name="Grafik 2" descr="Ein Bild, das Text, Diagramm, Reihe, Screenshot enthält.&#10;&#10;KI-generierte Inhalte können fehlerhaft sein.">
            <a:extLst>
              <a:ext uri="{FF2B5EF4-FFF2-40B4-BE49-F238E27FC236}">
                <a16:creationId xmlns:a16="http://schemas.microsoft.com/office/drawing/2014/main" id="{CE32860B-E065-EEDB-4657-C65095ACD4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1314268"/>
            <a:ext cx="4212000" cy="3181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963534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51079F-6360-DABE-10EA-A23A9586E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6C21CEE-1A91-4806-685E-615BF89707F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Inheritance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9018BEC-C557-3233-FAB9-35101A766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E84C9DD-54E0-A027-D4C0-D6988AE11D6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19D55E57-C163-9FD6-16D6-74415436E0F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BFE6189-F72E-0B1C-BE0E-71096166F2B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30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6D07A4FF-CD36-1400-FFB8-05BBC29AD254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Advantages: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Reduce boilerplate code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Uniform formatting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Minimal scaling costs</a:t>
            </a:r>
          </a:p>
        </p:txBody>
      </p:sp>
      <p:pic>
        <p:nvPicPr>
          <p:cNvPr id="3" name="Grafik 2" descr="Ein Bild, das Text, Diagramm, Reihe, Screenshot enthält.&#10;&#10;KI-generierte Inhalte können fehlerhaft sein.">
            <a:extLst>
              <a:ext uri="{FF2B5EF4-FFF2-40B4-BE49-F238E27FC236}">
                <a16:creationId xmlns:a16="http://schemas.microsoft.com/office/drawing/2014/main" id="{0DDE39E9-0DF5-98C6-5D82-F120D0BB1E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1314268"/>
            <a:ext cx="4212000" cy="3181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461436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EE2DA2-E7DA-E0CB-91A3-BBCC1142F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6B69A41C-5269-C908-DF01-8D43FD41E56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Abstract Templates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E717848F-6DA8-AF9E-8A4E-B69EDC969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12011C8-D2DB-1D12-EEAA-FA05806642C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E3B69F2-6A45-E2DD-4729-4DAD9BE32D4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93A4457-A35A-24A9-56B9-A12B8A0AAC5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31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E08FBE29-0A9B-2136-FE95-547CD4A4F357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Hooks for: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Specifying credentials file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Custom encryption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Post registration logic</a:t>
            </a:r>
          </a:p>
        </p:txBody>
      </p:sp>
      <p:pic>
        <p:nvPicPr>
          <p:cNvPr id="10" name="Grafik 9" descr="Ein Bild, das Text, Screenshot, Schrift, Diagramm enthält.&#10;&#10;KI-generierte Inhalte können fehlerhaft sein.">
            <a:extLst>
              <a:ext uri="{FF2B5EF4-FFF2-40B4-BE49-F238E27FC236}">
                <a16:creationId xmlns:a16="http://schemas.microsoft.com/office/drawing/2014/main" id="{7623B661-7ABF-B101-0E01-F825DBAD8F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2906" y="1091590"/>
            <a:ext cx="3641094" cy="3556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959299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0A5CA4-64C5-7650-1AD1-BB5C56343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3BDF50A-3A9D-54A1-1FF3-007B51AFB98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Abstract Templates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76CF0BA-EEB7-1496-78DC-AD84BAC5A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A66041B5-2F5A-84E7-FE51-779E7D59EC6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F634A877-7806-0F14-7C8C-13C17F46DFE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FFF35CB-62A4-48C5-FA8C-E3E872DF4E7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32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34223479-BFE4-D526-569D-0D213A21FD2D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Hooks for: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Specifying credentials file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Custom decryption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Custom verification process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Custom failed login logic</a:t>
            </a:r>
          </a:p>
        </p:txBody>
      </p:sp>
      <p:pic>
        <p:nvPicPr>
          <p:cNvPr id="5" name="Grafik 4" descr="Ein Bild, das Text, Screenshot, Schrift, Diagramm enthält.&#10;&#10;KI-generierte Inhalte können fehlerhaft sein.">
            <a:extLst>
              <a:ext uri="{FF2B5EF4-FFF2-40B4-BE49-F238E27FC236}">
                <a16:creationId xmlns:a16="http://schemas.microsoft.com/office/drawing/2014/main" id="{9798647E-AEF4-6663-479E-CF1472EF7B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4008" y="1096416"/>
            <a:ext cx="4139629" cy="3542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31098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6E733-7832-5804-7FC1-5A31B1EB6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B2102DA2-5FC0-19DA-8369-12AC04B6C90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Architecture Summary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45227B0-7E12-E105-2EC8-FD9270EE5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Our Apps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FAD81F6D-E53C-382A-ADB7-5DF0712CE77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C5D983D1-D00D-9A57-DDF6-46687BEB33F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CB90E0B-E2F5-5F9D-9ACA-84052060578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33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E4591698-D6E5-4652-8666-21E829868FD0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noProof="0" dirty="0"/>
              <a:t>One app package per vulnerability type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One app per vulnerability category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Resources shared by apps stored in “common” library module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All apps are independent modules of the project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Custom templates reduce boiler plate code</a:t>
            </a:r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0592189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BC30F-C25B-7073-3A1B-1660465740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D60D8A2-CAC1-F1D4-4407-CDABBAF2AD2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Overview of Our Apps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0F7445F2-BA2E-405F-D428-A101D5485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6A8EAE79-55D3-0EEA-7F7A-4174686DBDD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Three apps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28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Complete coverage of MASVS-STORAGE and CRYPTO</a:t>
            </a:r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1972BDC-A039-337C-C4D1-1A08C3B37EC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E0ABAD69-43AC-D932-B15F-D0E672663AF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8D30E9D-0965-D08C-B126-2AD14507A20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34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4356248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29159-1E84-C261-434B-0CC9EBBFC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F2760CC-1A5D-5656-7974-CF1C0D1DD4F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Overview of Our Apps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0F1AA677-696C-98F1-F2B8-1D61F5981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481B5011-1F99-CCC8-1972-FD596CA867D7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25% MASWE coverage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18/28 vulnerability types without previous coverage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MASWE coverage from 35.9% to  51.3%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75D1731-F918-A75F-2742-BEEC7E57553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10A3BDE3-986F-DF87-D241-25242AD5B2F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5021142-9DF1-CBE6-D589-5DC8F1DD4D9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99124101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14EE8D-A3F9-A17E-026A-E54B75D25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3CFD75C-28E3-802B-6BD6-DC18923526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Comparison with other MASTG Apps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F5233A53-64FE-CA26-14C6-FEE787318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Results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B0CCCF5B-3D13-9BA2-D1CF-0A198C4D8018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Largest contribution to crypto category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A29B60F-0C6A-26D2-D7BB-9FE0D1A767D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89867BC0-A9AD-6CAE-A20C-B360213BE70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FCCCB0FA-F845-B5B9-FB50-83C6DDB4FB9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36</a:t>
            </a:fld>
            <a:endParaRPr lang="en-US" noProof="0" dirty="0"/>
          </a:p>
        </p:txBody>
      </p:sp>
      <p:pic>
        <p:nvPicPr>
          <p:cNvPr id="3" name="Grafik 2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C248F9D5-5A82-83F9-3F7E-8FCF1E3CBF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4161" y="1914334"/>
            <a:ext cx="5299839" cy="2621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95243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97DD8C-9CAF-69F1-7B45-F8956BE05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272B720-D64A-5D75-9232-ED24B2057CA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Comparison with other MASTG Apps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E7431756-EA25-1013-E49C-74AB564480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1BAB215B-66B3-1C59-E098-BDDFE1282847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High number of “new” vulnerabilities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58B64BF-36FB-15C9-4654-0DEF4067F78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45E6AA50-490C-552A-BD0E-C9708CE0095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E4215688-A6A5-AE86-028E-36D00E8019F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37</a:t>
            </a:fld>
            <a:endParaRPr lang="en-US" noProof="0" dirty="0"/>
          </a:p>
        </p:txBody>
      </p:sp>
      <p:pic>
        <p:nvPicPr>
          <p:cNvPr id="5" name="Grafik 4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89A740C7-F1EF-2DF0-33BD-7C533568F6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9832" y="1752776"/>
            <a:ext cx="5723633" cy="2759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702784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36EE9-C990-5FE7-041E-4F5B09E7C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8E8AD95-61A2-77CD-B870-A319B7260E8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MobSF Static Scan</a:t>
            </a:r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AC539FA-EBDF-C1CB-E52F-738DBCDA4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3D4081EF-A6FC-3D8B-48D3-79CF305C88E4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Surprisingly high security scores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Storage and crypto apps deemed “low risk”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Inconsistent vulnerability detection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Many false positives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6E9340D-6B84-073F-A6ED-82115C9DA4D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D06F3D58-BF04-8E6A-1D75-45010D651BDC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AA0553A4-0692-4646-8E66-2D3709ED223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38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9251343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C845-A802-16D2-D74D-E572E5983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958305D-F68E-F857-33C3-28778BE980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Semgrep Static Scan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7D00815-A5F6-BA3A-2DC4-2153B7942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Results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E6602BA-CB0E-8437-9505-F44B7F650C5E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Slightly better than MobSF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Found 8 of 28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Failed to flag deprecated cryptographic algorithms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AE5507F-3E4F-A073-9302-391F8C17E42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10EF794A-1D62-9F28-8543-EEA1BA5326A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5AB2E62-B7C3-C2AB-23F5-0D2D3381EE0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0988484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850EDE-EE95-0801-9755-C57819655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F67E9F36-AB03-5D9B-790C-7E639B94B1B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Benchmarking Security Testing Tools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162D9B01-8A0B-5E40-AE47-13BF3F7F2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Outlook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83692E1F-15B6-D264-0E11-C5078E79CAB7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Natural next step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Combine our apps with others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Compare with existing benchmarks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0F4C412-038E-2975-D816-78E0184B99D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676C700E-5399-7EEF-44D1-D7552BE4BCA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EE3525B-883D-594B-F2F3-F659A70B8BE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40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97049404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C20D1-57AD-F86B-8489-2E358DBAD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BC522CA-53F3-CF17-D887-15142CFA62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Moving on to new Categories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F2C73E22-8B82-ACD5-F51B-91C6C2328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Outlook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E7E0469D-A9A0-891B-56B2-8C2813618AA1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Only 60/117 (51.3%) of MASWE vulnerabilities implemented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Privacy and auth still neglected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Important for both educational and benchmarking reasons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87CF201-DD73-C415-69E7-FDFA415984C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3BCE4A2C-39BD-750B-36BB-9ED30109D8B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D203937-AC8A-A182-F4CA-779A591EF26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4078274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06658-C64B-727A-C917-DF1C65DEB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C04FB0D8-06A6-E6A4-A68C-6FEA848427A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/>
              <a:t>Summary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A8D42EF4-F7E4-ABF1-5A37-7372FDFD4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Conclusion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ECCB19F-5FB3-2FAE-6453-A947D02CDEB4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Identified weaknesses of MASTG apps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Addressed them in a scalable and expandable way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Built basis of MASTG tool testing benchmark</a:t>
            </a:r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7B13DC48-4D06-62BA-9044-960EEAFC99B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14D849F9-7D87-6DF0-A011-CB0FBE4440E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CB518C4-A397-D4CE-873C-C0050321121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42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5908866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26741-3378-C652-CE5A-22458AF97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6DAE21F1-DBDB-D981-0000-1A25FE77DA7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B499ECD8-21A2-F69E-66D9-542B96724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Questions?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F0209AC3-6152-2EC3-7B08-D60F78315CD9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0BE445A-0BE1-E0F9-67B0-0905722B74A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6971C164-8476-F507-D597-E6464C90C2E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50144C54-2894-0BD1-A93A-F2A240659B3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43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02059270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30BC-8D2B-ABCB-ACED-04C90168D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6E4CD39-2B77-CB65-587D-23DC5FCD00B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5F56EE2-9D2F-E529-5DB3-123FF3991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References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090446F2-8F46-FEEF-30D8-7C2D36877AF0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9745CDA-60D0-F896-8FE0-83EF401AF55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C5712523-7582-2BD8-986B-62381CBC202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B0CE1AF-0E44-EB91-7F41-52A6CB868F7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44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2875796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00803-E03E-4256-407B-FAE7CDFC1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81ABAB7-4944-26AF-8D85-744ECD9FD45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57B34DA-F6BC-04E0-7981-3F7D556C0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1DA1CC60-ABE8-FA5B-30CF-E47720B805D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CF5D1FE-ADE6-CCE1-EE0E-EF9EF886F6F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BD3BC772-1808-72C0-840C-4671D66F866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EAB3C26B-0B46-9A09-B6C8-9B7226ECB05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327944303"/>
      </p:ext>
    </p:extLst>
  </p:cSld>
  <p:clrMapOvr>
    <a:masterClrMapping/>
  </p:clrMapOvr>
</p:sld>
</file>

<file path=ppt/theme/theme1.xml><?xml version="1.0" encoding="utf-8"?>
<a:theme xmlns:a="http://schemas.openxmlformats.org/drawingml/2006/main" name="3_Office">
  <a:themeElements>
    <a:clrScheme name="UniBE">
      <a:dk1>
        <a:sysClr val="windowText" lastClr="000000"/>
      </a:dk1>
      <a:lt1>
        <a:sysClr val="window" lastClr="FFFFFF"/>
      </a:lt1>
      <a:dk2>
        <a:srgbClr val="53565A"/>
      </a:dk2>
      <a:lt2>
        <a:srgbClr val="E40046"/>
      </a:lt2>
      <a:accent1>
        <a:srgbClr val="202A44"/>
      </a:accent1>
      <a:accent2>
        <a:srgbClr val="E40046"/>
      </a:accent2>
      <a:accent3>
        <a:srgbClr val="DE7C00"/>
      </a:accent3>
      <a:accent4>
        <a:srgbClr val="DAAA00"/>
      </a:accent4>
      <a:accent5>
        <a:srgbClr val="A4C8E1"/>
      </a:accent5>
      <a:accent6>
        <a:srgbClr val="97999B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2" id="{F85B5258-2C3E-489C-8456-0280B7693F9C}" vid="{220B11A5-9FBE-4BE8-88F7-F6586911FCB9}"/>
    </a:ext>
  </a:extLst>
</a:theme>
</file>

<file path=ppt/theme/theme2.xml><?xml version="1.0" encoding="utf-8"?>
<a:theme xmlns:a="http://schemas.openxmlformats.org/drawingml/2006/main" name="1_Office">
  <a:themeElements>
    <a:clrScheme name="UniBE">
      <a:dk1>
        <a:sysClr val="windowText" lastClr="000000"/>
      </a:dk1>
      <a:lt1>
        <a:sysClr val="window" lastClr="FFFFFF"/>
      </a:lt1>
      <a:dk2>
        <a:srgbClr val="53565A"/>
      </a:dk2>
      <a:lt2>
        <a:srgbClr val="E40046"/>
      </a:lt2>
      <a:accent1>
        <a:srgbClr val="202A44"/>
      </a:accent1>
      <a:accent2>
        <a:srgbClr val="E40046"/>
      </a:accent2>
      <a:accent3>
        <a:srgbClr val="DE7C00"/>
      </a:accent3>
      <a:accent4>
        <a:srgbClr val="DAAA00"/>
      </a:accent4>
      <a:accent5>
        <a:srgbClr val="A4C8E1"/>
      </a:accent5>
      <a:accent6>
        <a:srgbClr val="97999B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2" id="{F85B5258-2C3E-489C-8456-0280B7693F9C}" vid="{B4599F3B-7FCE-492B-8B3D-887A710F2678}"/>
    </a:ext>
  </a:extLst>
</a:theme>
</file>

<file path=ppt/theme/theme3.xml><?xml version="1.0" encoding="utf-8"?>
<a:theme xmlns:a="http://schemas.openxmlformats.org/drawingml/2006/main" name="Ende">
  <a:themeElements>
    <a:clrScheme name="UniBE">
      <a:dk1>
        <a:sysClr val="windowText" lastClr="000000"/>
      </a:dk1>
      <a:lt1>
        <a:sysClr val="window" lastClr="FFFFFF"/>
      </a:lt1>
      <a:dk2>
        <a:srgbClr val="53565A"/>
      </a:dk2>
      <a:lt2>
        <a:srgbClr val="E40046"/>
      </a:lt2>
      <a:accent1>
        <a:srgbClr val="202A44"/>
      </a:accent1>
      <a:accent2>
        <a:srgbClr val="E40046"/>
      </a:accent2>
      <a:accent3>
        <a:srgbClr val="DE7C00"/>
      </a:accent3>
      <a:accent4>
        <a:srgbClr val="DAAA00"/>
      </a:accent4>
      <a:accent5>
        <a:srgbClr val="A4C8E1"/>
      </a:accent5>
      <a:accent6>
        <a:srgbClr val="97999B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2" id="{F85B5258-2C3E-489C-8456-0280B7693F9C}" vid="{4527320C-C198-40CD-B0BF-F9ABCAA7BE5F}"/>
    </a:ext>
  </a:extLst>
</a:theme>
</file>

<file path=ppt/theme/theme4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UniBE - Vorlage Praesentationen</Template>
  <TotalTime>0</TotalTime>
  <Words>1103</Words>
  <Application>Microsoft Office PowerPoint</Application>
  <PresentationFormat>Bildschirmpräsentation (16:9)</PresentationFormat>
  <Paragraphs>294</Paragraphs>
  <Slides>45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3</vt:i4>
      </vt:variant>
      <vt:variant>
        <vt:lpstr>Folientitel</vt:lpstr>
      </vt:variant>
      <vt:variant>
        <vt:i4>45</vt:i4>
      </vt:variant>
    </vt:vector>
  </HeadingPairs>
  <TitlesOfParts>
    <vt:vector size="51" baseType="lpstr">
      <vt:lpstr>Arial</vt:lpstr>
      <vt:lpstr>Calibri</vt:lpstr>
      <vt:lpstr>Symbol</vt:lpstr>
      <vt:lpstr>3_Office</vt:lpstr>
      <vt:lpstr>1_Office</vt:lpstr>
      <vt:lpstr>Ende</vt:lpstr>
      <vt:lpstr>Development of a Reference Application for the OWASP Mobile Application Security Testing Guide (MASTG)</vt:lpstr>
      <vt:lpstr>State of Android App Security</vt:lpstr>
      <vt:lpstr>State of Android App Security</vt:lpstr>
      <vt:lpstr>State of Android App Security</vt:lpstr>
      <vt:lpstr>Understanding the Challenge</vt:lpstr>
      <vt:lpstr>Understanding the Challenge</vt:lpstr>
      <vt:lpstr>Understanding the Challenge</vt:lpstr>
      <vt:lpstr>Understanding the Challenge</vt:lpstr>
      <vt:lpstr>Presentation Outline</vt:lpstr>
      <vt:lpstr>Background Knowledge</vt:lpstr>
      <vt:lpstr>Connection to Academia</vt:lpstr>
      <vt:lpstr>Connection to Academia</vt:lpstr>
      <vt:lpstr>Connection to Academia</vt:lpstr>
      <vt:lpstr>Connection to Academia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Designing Our Apps</vt:lpstr>
      <vt:lpstr>Designing Our Apps</vt:lpstr>
      <vt:lpstr>Designing Our Apps</vt:lpstr>
      <vt:lpstr>Designing Our Apps</vt:lpstr>
      <vt:lpstr>Designing Our Apps</vt:lpstr>
      <vt:lpstr>Designing Our Apps</vt:lpstr>
      <vt:lpstr>Designing Our Apps</vt:lpstr>
      <vt:lpstr>Designing Our Apps</vt:lpstr>
      <vt:lpstr>Designing Our Apps</vt:lpstr>
      <vt:lpstr>Results</vt:lpstr>
      <vt:lpstr>Results</vt:lpstr>
      <vt:lpstr>Results</vt:lpstr>
      <vt:lpstr>Results</vt:lpstr>
      <vt:lpstr>Results</vt:lpstr>
      <vt:lpstr>Results</vt:lpstr>
      <vt:lpstr>Outlook</vt:lpstr>
      <vt:lpstr>Outlook</vt:lpstr>
      <vt:lpstr>Conclusion</vt:lpstr>
      <vt:lpstr>Questions?</vt:lpstr>
      <vt:lpstr>References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Scholl, André (IWI)</dc:creator>
  <cp:lastModifiedBy>Kronig, Dominic Fabian (STUDENTS)</cp:lastModifiedBy>
  <cp:revision>259</cp:revision>
  <dcterms:created xsi:type="dcterms:W3CDTF">2021-06-29T15:00:13Z</dcterms:created>
  <dcterms:modified xsi:type="dcterms:W3CDTF">2026-02-03T11:17:31Z</dcterms:modified>
</cp:coreProperties>
</file>
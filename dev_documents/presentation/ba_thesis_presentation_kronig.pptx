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3"/>
  </p:notesMasterIdLst>
  <p:handoutMasterIdLst>
    <p:handoutMasterId r:id="rId54"/>
  </p:handoutMasterIdLst>
  <p:sldIdLst>
    <p:sldId id="256" r:id="rId4"/>
    <p:sldId id="322" r:id="rId5"/>
    <p:sldId id="321" r:id="rId6"/>
    <p:sldId id="319" r:id="rId7"/>
    <p:sldId id="320" r:id="rId8"/>
    <p:sldId id="312" r:id="rId9"/>
    <p:sldId id="313" r:id="rId10"/>
    <p:sldId id="324" r:id="rId11"/>
    <p:sldId id="314" r:id="rId12"/>
    <p:sldId id="315" r:id="rId13"/>
    <p:sldId id="316" r:id="rId14"/>
    <p:sldId id="317" r:id="rId15"/>
    <p:sldId id="290" r:id="rId16"/>
    <p:sldId id="291" r:id="rId17"/>
    <p:sldId id="274" r:id="rId18"/>
    <p:sldId id="262" r:id="rId19"/>
    <p:sldId id="273" r:id="rId20"/>
    <p:sldId id="275" r:id="rId21"/>
    <p:sldId id="263" r:id="rId22"/>
    <p:sldId id="277" r:id="rId23"/>
    <p:sldId id="276" r:id="rId24"/>
    <p:sldId id="278" r:id="rId25"/>
    <p:sldId id="292" r:id="rId26"/>
    <p:sldId id="281" r:id="rId27"/>
    <p:sldId id="286" r:id="rId28"/>
    <p:sldId id="287" r:id="rId29"/>
    <p:sldId id="288" r:id="rId30"/>
    <p:sldId id="289" r:id="rId31"/>
    <p:sldId id="264" r:id="rId32"/>
    <p:sldId id="293" r:id="rId33"/>
    <p:sldId id="294" r:id="rId34"/>
    <p:sldId id="296" r:id="rId35"/>
    <p:sldId id="297" r:id="rId36"/>
    <p:sldId id="298" r:id="rId37"/>
    <p:sldId id="299" r:id="rId38"/>
    <p:sldId id="300" r:id="rId39"/>
    <p:sldId id="295" r:id="rId40"/>
    <p:sldId id="282" r:id="rId41"/>
    <p:sldId id="301" r:id="rId42"/>
    <p:sldId id="302" r:id="rId43"/>
    <p:sldId id="303" r:id="rId44"/>
    <p:sldId id="283" r:id="rId45"/>
    <p:sldId id="304" r:id="rId46"/>
    <p:sldId id="305" r:id="rId47"/>
    <p:sldId id="284" r:id="rId48"/>
    <p:sldId id="285" r:id="rId49"/>
    <p:sldId id="308" r:id="rId50"/>
    <p:sldId id="307" r:id="rId51"/>
    <p:sldId id="306" r:id="rId5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heme" Target="theme/theme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03.02.2026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s.statcounter.com/os-market-share/mobile/worldwide?utm_source=chatgpt.com" TargetMode="External"/><Relationship Id="rId2" Type="http://schemas.openxmlformats.org/officeDocument/2006/relationships/hyperlink" Target="https://www.techinsideout.co/inside/security-vulnerabilities-found-in-over-60-of-android-apps" TargetMode="Externa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C0B43-F179-B9EA-5BC2-AC64C53C4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28AAE82-5705-88C1-DFD7-2111C4466E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Android Dominance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60CD8EF-51C5-1A60-57E4-1A1487E6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138B486-AD16-7820-CE66-39306F42B7B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Light revie</a:t>
            </a:r>
            <a:r>
              <a:rPr lang="en-US" dirty="0"/>
              <a:t>w process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5122B93-6A45-5D57-F0FF-D45161742E9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FF6A07-D61D-B2E2-FF8B-24C8FDEA4F3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1953284-D2EF-DC4C-6B36-1B5EC4DCC6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15" name="Grafik 14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70273F15-B74A-4897-5C7A-5CC08C623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429" y="1866764"/>
            <a:ext cx="5297571" cy="262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57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The Problem in Numbers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&lt; 5?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&lt; 10?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&lt; 40?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developers 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Study’s show: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of developers cite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What to do?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Avoid implementing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-&gt; Make mobile security knowledge more accessible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-&gt; Improve and promote the best 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2A447-830E-35E8-2A4E-F4CB5F27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D0C7159-3A9C-9E0A-67C8-E90393B957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D3E65E5-755F-7414-B8FF-412C1BFE0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B0271F4-9D9C-9885-13F9-C5696DA8BCD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What to do?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Avoid new vulnerabilities </a:t>
            </a:r>
            <a:r>
              <a:rPr lang="en-US" b="1" noProof="0" dirty="0"/>
              <a:t>(Mobile Security Knowledge)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Find existing vulnerabilities </a:t>
            </a:r>
            <a:r>
              <a:rPr lang="en-US" b="1" noProof="0" dirty="0"/>
              <a:t>(Security Testing Tools)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DEE1DFE-829C-EF60-D6FE-232D0C660A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8EF483-9C7D-F49C-6D75-07B6BAF60A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347BDF0-3E38-78D7-E5CC-14DA06A0999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3532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Mobile Security Knowledge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Make mobile security knowledge more accessible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OWASP (MASTG)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Problem: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Tools for vulnerability detection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A</a:t>
            </a:r>
            <a:r>
              <a:rPr lang="en-US" dirty="0"/>
              <a:t>nalysis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dirty="0"/>
              <a:t>Improve and promote the best security testing tools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Problem: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Security Testing Tools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…improve educational value of OWASP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...create a benchmark for evaluating SAST &amp; DAST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…solve both problems!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Our Purpose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What makes a good reference app?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Analyze existing MASTG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Under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…there are </a:t>
            </a:r>
            <a:r>
              <a:rPr lang="en-US" b="1" dirty="0"/>
              <a:t>18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“</a:t>
            </a:r>
            <a:r>
              <a:rPr lang="en-US" b="1" noProof="0" dirty="0"/>
              <a:t>common</a:t>
            </a:r>
            <a:r>
              <a:rPr lang="en-US" noProof="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DA2-E7DA-E0CB-91A3-BBCC1142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69A41C-5269-C908-DF01-8D43FD41E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17848F-6DA8-AF9E-8A4E-B69EDC96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2011C8-D2DB-1D12-EEAA-FA05806642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3B69F2-6A45-E2DD-4729-4DAD9BE32D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3A4457-A35A-24A9-56B9-A12B8A0AAC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08FBE29-0A9B-2136-FE95-547CD4A4F357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encryption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Post registration logic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7623B661-7ABF-B101-0E01-F825DBAD8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906" y="1091590"/>
            <a:ext cx="3641094" cy="355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59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A5CA4-64C5-7650-1AD1-BB5C5634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3BDF50A-3A9D-54A1-1FF3-007B51AFB9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76CF0BA-EEB7-1496-78DC-AD84BAC5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041B5-2F5A-84E7-FE51-779E7D59EC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34A877-7806-0F14-7C8C-13C17F46DF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FFF35CB-62A4-48C5-FA8C-E3E872DF4E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4223479-BFE4-D526-569D-0D213A21FD2D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decryption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verification process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failed login logic</a:t>
            </a:r>
          </a:p>
        </p:txBody>
      </p:sp>
      <p:pic>
        <p:nvPicPr>
          <p:cNvPr id="5" name="Grafik 4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98647E-AEF4-6663-479E-CF1472EF7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8" y="1096416"/>
            <a:ext cx="4139629" cy="354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3109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Architecture Summary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7DD8C-9CAF-69F1-7B45-F8956BE0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272B720-D64A-5D75-9232-ED24B2057C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Comparison with other MASTG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431756-EA25-1013-E49C-74AB56448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BAB215B-66B3-1C59-E098-BDDFE128284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High number of “new” 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58B64BF-36FB-15C9-4654-0DEF4067F7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E6AA50-490C-552A-BD0E-C9708CE009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4215688-A6A5-AE86-028E-36D00E8019F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9A740C7-F1EF-2DF0-33BD-7C533568F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832" y="1752776"/>
            <a:ext cx="5723633" cy="2759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0278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MobSF Static Scan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Identified weaknesses of MASTG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2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StatCounter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3"/>
              </a:rPr>
              <a:t>https://gs.statcounter.com/os-market-share/mobile/worldwide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1281</Words>
  <Application>Microsoft Office PowerPoint</Application>
  <PresentationFormat>Bildschirmpräsentation (16:9)</PresentationFormat>
  <Paragraphs>328</Paragraphs>
  <Slides>49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49</vt:i4>
      </vt:variant>
    </vt:vector>
  </HeadingPairs>
  <TitlesOfParts>
    <vt:vector size="55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279</cp:revision>
  <dcterms:created xsi:type="dcterms:W3CDTF">2021-06-29T15:00:13Z</dcterms:created>
  <dcterms:modified xsi:type="dcterms:W3CDTF">2026-02-03T16:53:35Z</dcterms:modified>
</cp:coreProperties>
</file>
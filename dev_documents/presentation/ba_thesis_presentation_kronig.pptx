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8" r:id="rId1"/>
    <p:sldMasterId id="2147483738" r:id="rId2"/>
    <p:sldMasterId id="2147483793" r:id="rId3"/>
  </p:sldMasterIdLst>
  <p:notesMasterIdLst>
    <p:notesMasterId r:id="rId45"/>
  </p:notesMasterIdLst>
  <p:handoutMasterIdLst>
    <p:handoutMasterId r:id="rId46"/>
  </p:handoutMasterIdLst>
  <p:sldIdLst>
    <p:sldId id="256" r:id="rId4"/>
    <p:sldId id="257" r:id="rId5"/>
    <p:sldId id="258" r:id="rId6"/>
    <p:sldId id="261" r:id="rId7"/>
    <p:sldId id="267" r:id="rId8"/>
    <p:sldId id="259" r:id="rId9"/>
    <p:sldId id="268" r:id="rId10"/>
    <p:sldId id="269" r:id="rId11"/>
    <p:sldId id="270" r:id="rId12"/>
    <p:sldId id="271" r:id="rId13"/>
    <p:sldId id="272" r:id="rId14"/>
    <p:sldId id="260" r:id="rId15"/>
    <p:sldId id="290" r:id="rId16"/>
    <p:sldId id="291" r:id="rId17"/>
    <p:sldId id="274" r:id="rId18"/>
    <p:sldId id="262" r:id="rId19"/>
    <p:sldId id="273" r:id="rId20"/>
    <p:sldId id="275" r:id="rId21"/>
    <p:sldId id="263" r:id="rId22"/>
    <p:sldId id="277" r:id="rId23"/>
    <p:sldId id="276" r:id="rId24"/>
    <p:sldId id="278" r:id="rId25"/>
    <p:sldId id="292" r:id="rId26"/>
    <p:sldId id="281" r:id="rId27"/>
    <p:sldId id="286" r:id="rId28"/>
    <p:sldId id="287" r:id="rId29"/>
    <p:sldId id="288" r:id="rId30"/>
    <p:sldId id="289" r:id="rId31"/>
    <p:sldId id="264" r:id="rId32"/>
    <p:sldId id="293" r:id="rId33"/>
    <p:sldId id="294" r:id="rId34"/>
    <p:sldId id="296" r:id="rId35"/>
    <p:sldId id="297" r:id="rId36"/>
    <p:sldId id="298" r:id="rId37"/>
    <p:sldId id="299" r:id="rId38"/>
    <p:sldId id="300" r:id="rId39"/>
    <p:sldId id="295" r:id="rId40"/>
    <p:sldId id="282" r:id="rId41"/>
    <p:sldId id="283" r:id="rId42"/>
    <p:sldId id="284" r:id="rId43"/>
    <p:sldId id="285" r:id="rId4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E0BF"/>
    <a:srgbClr val="BDCCD2"/>
    <a:srgbClr val="FFFFFF"/>
    <a:srgbClr val="4A8796"/>
    <a:srgbClr val="E6002E"/>
    <a:srgbClr val="F4F4F4"/>
    <a:srgbClr val="8E8E8E"/>
    <a:srgbClr val="8DABC9"/>
    <a:srgbClr val="E1EBF5"/>
    <a:srgbClr val="BED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21" autoAdjust="0"/>
    <p:restoredTop sz="76855" autoAdjust="0"/>
  </p:normalViewPr>
  <p:slideViewPr>
    <p:cSldViewPr>
      <p:cViewPr varScale="1">
        <p:scale>
          <a:sx n="92" d="100"/>
          <a:sy n="92" d="100"/>
        </p:scale>
        <p:origin x="5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21" d="100"/>
          <a:sy n="121" d="100"/>
        </p:scale>
        <p:origin x="49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viewProps" Target="view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2B13D9-EE20-4263-A517-453A6CC03581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D6EC07-0A99-4547-B3E3-7D82A955BA1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4867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B9E2E8-0589-406D-8FD1-7B0DBC84FBDE}" type="datetimeFigureOut">
              <a:rPr lang="de-CH" smtClean="0"/>
              <a:t>02.02.2026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01061-0450-4586-BC97-FCEC15115AD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2552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23" hasCustomPrompt="1"/>
          </p:nvPr>
        </p:nvSpPr>
        <p:spPr>
          <a:xfrm rot="20402096">
            <a:off x="3613655" y="2323187"/>
            <a:ext cx="1800225" cy="1593397"/>
          </a:xfrm>
          <a:prstGeom prst="rect">
            <a:avLst/>
          </a:prstGeom>
          <a:solidFill>
            <a:srgbClr val="F4F4F4"/>
          </a:solidFill>
        </p:spPr>
        <p:txBody>
          <a:bodyPr lIns="36000" tIns="36000" rIns="36000" bIns="36000" anchor="ctr"/>
          <a:lstStyle>
            <a:lvl1pPr marL="0" indent="0" algn="ctr" defTabSz="457200" rtl="0" eaLnBrk="1" latinLnBrk="0" hangingPunct="1">
              <a:buNone/>
              <a:defRPr lang="de-DE" sz="6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1pPr>
            <a:lvl2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2pPr>
            <a:lvl3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3pPr>
            <a:lvl4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4pPr>
            <a:lvl5pPr marL="0" algn="ctr" defTabSz="457200" rtl="0" eaLnBrk="1" latinLnBrk="0" hangingPunct="1">
              <a:defRPr lang="en-US" sz="8000" kern="1200" dirty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CH" dirty="0"/>
              <a:t>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95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0" y="2016000"/>
            <a:ext cx="9144000" cy="3127500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20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«Titelbild»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3262353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00789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</p:spTree>
    <p:extLst>
      <p:ext uri="{BB962C8B-B14F-4D97-AF65-F5344CB8AC3E}">
        <p14:creationId xmlns:p14="http://schemas.microsoft.com/office/powerpoint/2010/main" val="755814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8424467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966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71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3204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60000" y="1332000"/>
            <a:ext cx="4176000" cy="3204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89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8424466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64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332000"/>
            <a:ext cx="8424467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8424466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41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420000"/>
            <a:ext cx="8424466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1" y="225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010637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401032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4608000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</p:spTree>
    <p:extLst>
      <p:ext uri="{BB962C8B-B14F-4D97-AF65-F5344CB8AC3E}">
        <p14:creationId xmlns:p14="http://schemas.microsoft.com/office/powerpoint/2010/main" val="3190611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8424467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702517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1282835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6" y="1080000"/>
            <a:ext cx="6588264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3550162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195736" y="1080000"/>
            <a:ext cx="658826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195737" y="2844000"/>
            <a:ext cx="6588262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375027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7" y="108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195737" y="3420000"/>
            <a:ext cx="6588261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195736" y="225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1365748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6" y="1080000"/>
            <a:ext cx="5112568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4248614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015716" y="1080000"/>
            <a:ext cx="5112568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015716" y="2844000"/>
            <a:ext cx="5112567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15346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5" y="108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015716" y="3420000"/>
            <a:ext cx="5112568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2015714" y="225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9818678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2699793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444508" y="1080000"/>
            <a:ext cx="2700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8377531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-1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0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444715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444716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796597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2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2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8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1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444816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0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444816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2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444815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5744613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60038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012160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130879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2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2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012160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012161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581733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359533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359533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359532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011962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011962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011961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1446908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6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80175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9" name="Inhaltsplatzhalter 7"/>
          <p:cNvSpPr>
            <a:spLocks noGrp="1"/>
          </p:cNvSpPr>
          <p:nvPr>
            <p:ph sz="quarter" idx="3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393648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629178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38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607745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87907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53"/>
          <p:cNvSpPr>
            <a:spLocks noGrp="1"/>
          </p:cNvSpPr>
          <p:nvPr>
            <p:ph sz="half" idx="36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7776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212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28"/>
          </p:nvPr>
        </p:nvSpPr>
        <p:spPr>
          <a:xfrm>
            <a:off x="2087796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651273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9339186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18"/>
          <p:cNvSpPr>
            <a:spLocks noGrp="1"/>
          </p:cNvSpPr>
          <p:nvPr>
            <p:ph sz="half" idx="38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Inhaltsplatzhalter 22"/>
          <p:cNvSpPr>
            <a:spLocks noGrp="1"/>
          </p:cNvSpPr>
          <p:nvPr>
            <p:ph sz="half" idx="39" hasCustomPrompt="1"/>
          </p:nvPr>
        </p:nvSpPr>
        <p:spPr>
          <a:xfrm>
            <a:off x="0" y="3420000"/>
            <a:ext cx="2736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691910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3229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2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212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3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230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4" name="Bildplatzhalter 4"/>
          <p:cNvSpPr>
            <a:spLocks noGrp="1"/>
          </p:cNvSpPr>
          <p:nvPr>
            <p:ph type="pic" sz="quarter" idx="32"/>
          </p:nvPr>
        </p:nvSpPr>
        <p:spPr>
          <a:xfrm>
            <a:off x="208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5" name="Bildplatzhalter 4"/>
          <p:cNvSpPr>
            <a:spLocks noGrp="1"/>
          </p:cNvSpPr>
          <p:nvPr>
            <p:ph type="pic" sz="quarter" idx="33"/>
          </p:nvPr>
        </p:nvSpPr>
        <p:spPr>
          <a:xfrm>
            <a:off x="226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82174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102573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88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17"/>
          <p:cNvSpPr>
            <a:spLocks noGrp="1"/>
          </p:cNvSpPr>
          <p:nvPr>
            <p:ph sz="half" idx="34" hasCustomPrompt="1"/>
          </p:nvPr>
        </p:nvSpPr>
        <p:spPr>
          <a:xfrm>
            <a:off x="0" y="2538000"/>
            <a:ext cx="270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8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414074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10" name="Textfeld 9"/>
          <p:cNvSpPr txBox="1"/>
          <p:nvPr userDrawn="1"/>
        </p:nvSpPr>
        <p:spPr>
          <a:xfrm rot="20390563">
            <a:off x="3745193" y="2430129"/>
            <a:ext cx="1525648" cy="1323439"/>
          </a:xfrm>
          <a:prstGeom prst="rect">
            <a:avLst/>
          </a:prstGeom>
          <a:solidFill>
            <a:srgbClr val="F4F4F4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de-CH" sz="8000" dirty="0">
                <a:solidFill>
                  <a:srgbClr val="8E8E8E"/>
                </a:solidFill>
              </a:rPr>
              <a:t>?</a:t>
            </a:r>
            <a:endParaRPr lang="en-US" sz="8000" dirty="0">
              <a:solidFill>
                <a:srgbClr val="8E8E8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10396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156746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26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24.xml"/><Relationship Id="rId34" Type="http://schemas.openxmlformats.org/officeDocument/2006/relationships/slideLayout" Target="../slideLayouts/slideLayout37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slideLayout" Target="../slideLayouts/slideLayout28.xml"/><Relationship Id="rId3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29" Type="http://schemas.openxmlformats.org/officeDocument/2006/relationships/slideLayout" Target="../slideLayouts/slideLayout3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32" Type="http://schemas.openxmlformats.org/officeDocument/2006/relationships/slideLayout" Target="../slideLayouts/slideLayout35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31.xml"/><Relationship Id="rId36" Type="http://schemas.openxmlformats.org/officeDocument/2006/relationships/theme" Target="../theme/theme2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34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8.xml"/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 der Vorlesung»</a:t>
            </a:r>
          </a:p>
        </p:txBody>
      </p:sp>
      <p:cxnSp>
        <p:nvCxnSpPr>
          <p:cNvPr id="3" name="Gerader Verbinder 2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6643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789" r:id="rId2"/>
    <p:sldLayoutId id="2147483792" r:id="rId3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idx="1"/>
          </p:nvPr>
        </p:nvSpPr>
        <p:spPr>
          <a:xfrm>
            <a:off x="360000" y="1080000"/>
            <a:ext cx="8424000" cy="3456000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/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Fußzeilenplatzhalter 15"/>
          <p:cNvSpPr>
            <a:spLocks noGrp="1"/>
          </p:cNvSpPr>
          <p:nvPr>
            <p:ph type="ftr" sz="quarter" idx="3"/>
          </p:nvPr>
        </p:nvSpPr>
        <p:spPr>
          <a:xfrm>
            <a:off x="359532" y="4860000"/>
            <a:ext cx="7992888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17" name="Foliennummernplatzhalter 16"/>
          <p:cNvSpPr>
            <a:spLocks noGrp="1"/>
          </p:cNvSpPr>
          <p:nvPr>
            <p:ph type="sldNum" sz="quarter" idx="4"/>
          </p:nvPr>
        </p:nvSpPr>
        <p:spPr>
          <a:xfrm>
            <a:off x="8388000" y="4860000"/>
            <a:ext cx="396000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r Verbinder 9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18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0" r:id="rId2"/>
    <p:sldLayoutId id="2147483796" r:id="rId3"/>
    <p:sldLayoutId id="2147483798" r:id="rId4"/>
    <p:sldLayoutId id="2147483804" r:id="rId5"/>
    <p:sldLayoutId id="2147483805" r:id="rId6"/>
    <p:sldLayoutId id="2147483806" r:id="rId7"/>
    <p:sldLayoutId id="2147483797" r:id="rId8"/>
    <p:sldLayoutId id="2147483799" r:id="rId9"/>
    <p:sldLayoutId id="2147483801" r:id="rId10"/>
    <p:sldLayoutId id="2147483800" r:id="rId11"/>
    <p:sldLayoutId id="2147483802" r:id="rId12"/>
    <p:sldLayoutId id="2147483803" r:id="rId13"/>
    <p:sldLayoutId id="2147483807" r:id="rId14"/>
    <p:sldLayoutId id="2147483808" r:id="rId15"/>
    <p:sldLayoutId id="2147483809" r:id="rId16"/>
    <p:sldLayoutId id="2147483810" r:id="rId17"/>
    <p:sldLayoutId id="2147483811" r:id="rId18"/>
    <p:sldLayoutId id="2147483812" r:id="rId19"/>
    <p:sldLayoutId id="2147483813" r:id="rId20"/>
    <p:sldLayoutId id="2147483814" r:id="rId21"/>
    <p:sldLayoutId id="2147483816" r:id="rId22"/>
    <p:sldLayoutId id="2147483815" r:id="rId23"/>
    <p:sldLayoutId id="2147483818" r:id="rId24"/>
    <p:sldLayoutId id="2147483824" r:id="rId25"/>
    <p:sldLayoutId id="2147483820" r:id="rId26"/>
    <p:sldLayoutId id="2147483826" r:id="rId27"/>
    <p:sldLayoutId id="2147483817" r:id="rId28"/>
    <p:sldLayoutId id="2147483821" r:id="rId29"/>
    <p:sldLayoutId id="2147483819" r:id="rId30"/>
    <p:sldLayoutId id="2147483822" r:id="rId31"/>
    <p:sldLayoutId id="2147483823" r:id="rId32"/>
    <p:sldLayoutId id="2147483827" r:id="rId33"/>
    <p:sldLayoutId id="2147483825" r:id="rId34"/>
    <p:sldLayoutId id="2147483828" r:id="rId35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«Bedankung»</a:t>
            </a:r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485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owasp.org/www-community/Source_Code_Analysis_Tools?utm_source=chatgpt.com" TargetMode="Externa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1400" dirty="0"/>
              <a:t>BA Thesis Presentation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dirty="0"/>
              <a:t>Development of a Reference Application for the OWASP Mobile Application Security Testing Guide (MASTG)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Dominic Kronig, Software Engineering Group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dirty="0"/>
              <a:t>10.02.2026 Engehalde Bern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9877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10" name="Inhaltsplatzhalter 9"/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Something interesting, funny anecdote</a:t>
            </a:r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732685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0FF46-55F8-AFCD-5AF9-C84981AA0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7E79E46-B924-42EC-71F4-7B9BB06DD01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Current State of Android App Security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782703D-8999-C957-87D0-2E945BA8E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7A46653-448A-BE3F-8718-71B42B878FA2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mobile apps released in the first quarter of 2021 across 18 of the most popular categories had, on average, </a:t>
            </a:r>
            <a:r>
              <a:rPr lang="en-US" b="1" dirty="0"/>
              <a:t>39 vulnerabilities per app </a:t>
            </a:r>
            <a:r>
              <a:rPr lang="en-US" dirty="0"/>
              <a:t>that could compromise users’ security and privacy.</a:t>
            </a:r>
          </a:p>
          <a:p>
            <a:r>
              <a:rPr lang="en-US" dirty="0"/>
              <a:t>mHealth: </a:t>
            </a:r>
            <a:r>
              <a:rPr lang="en-US" b="1" dirty="0"/>
              <a:t>~50% use deprecated encryption, ~25% access precise GPS data without informing user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8BA99A3-696D-5486-B48E-A88CD5CA5C8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(Ferrari et al., 2025; Stevenson &amp; Das, 2025 )</a:t>
            </a:r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CB2254F-D1D0-6112-D5F8-EB6B39F1E6A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118886C-72C8-49F3-EEEC-544204C1323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1023713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6F47-4C38-D38C-4234-BED80E825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F01ED90-CB35-98D8-A18E-A042D351479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Current State of Android App Security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E21405C-A5B6-3FCA-0639-6EB5B7598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Causes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5EBE952-93A7-285A-D762-F2C0C823101D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43% of companies </a:t>
            </a:r>
            <a:r>
              <a:rPr lang="en-US" b="1" dirty="0"/>
              <a:t>sacrificed</a:t>
            </a:r>
            <a:r>
              <a:rPr lang="en-US" dirty="0"/>
              <a:t> their </a:t>
            </a:r>
            <a:r>
              <a:rPr lang="en-US" b="1" dirty="0"/>
              <a:t>cellular security</a:t>
            </a:r>
            <a:r>
              <a:rPr lang="en-US" dirty="0"/>
              <a:t>, often </a:t>
            </a:r>
            <a:r>
              <a:rPr lang="en-US" b="1" dirty="0"/>
              <a:t>opting for expedited marketing</a:t>
            </a:r>
            <a:r>
              <a:rPr lang="en-US" dirty="0"/>
              <a:t> over comprehensive security testing</a:t>
            </a:r>
          </a:p>
          <a:p>
            <a:r>
              <a:rPr lang="en-US" dirty="0"/>
              <a:t>78% of respondents said they </a:t>
            </a:r>
            <a:r>
              <a:rPr lang="en-US" b="1" dirty="0"/>
              <a:t>avoided implementing security due to a lack of expertise and knowledge about security. </a:t>
            </a:r>
            <a:r>
              <a:rPr lang="en-US" dirty="0"/>
              <a:t>63% thought that implementing security measures in applications is too complex or/and time-consuming.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66AF7B4-4F47-92D8-7E37-41BC2BDEB6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</a:t>
            </a:r>
            <a:r>
              <a:rPr lang="de-CH" dirty="0" err="1"/>
              <a:t>Saifulhakim</a:t>
            </a:r>
            <a:r>
              <a:rPr lang="de-CH" dirty="0"/>
              <a:t> &amp; </a:t>
            </a:r>
            <a:r>
              <a:rPr lang="de-CH" dirty="0" err="1"/>
              <a:t>Fajar</a:t>
            </a:r>
            <a:r>
              <a:rPr lang="de-CH" dirty="0"/>
              <a:t>, 2024; </a:t>
            </a:r>
            <a:r>
              <a:rPr lang="de-CH" dirty="0" err="1"/>
              <a:t>Chiboora</a:t>
            </a:r>
            <a:r>
              <a:rPr lang="de-CH" dirty="0"/>
              <a:t> et al., 2023)</a:t>
            </a:r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F2150A8-CD22-4E58-582C-9ED8AD5E6B4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2B461F8-108C-CDE4-F4CF-CA062422BB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4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517865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3EBE4-DD98-FA29-0BA6-7C4D80E09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1F6CEF7-672C-F170-9791-DB46668C202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A19C334-216A-D04C-FAF6-6930A5B5A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Fixes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44465E8-BB98-C9F6-18B8-C7C6489CF334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Tools for vulnerability detection</a:t>
            </a:r>
          </a:p>
          <a:p>
            <a:r>
              <a:rPr lang="en-US" dirty="0"/>
              <a:t>Static &amp; Dynamic Application Security Analysis Testing (SAST, DAST)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B838774-92BA-1F4A-6395-92C43E189A6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7FAFD24-EB2D-807C-6F15-3FC289C4B82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C54FD2F-5F51-DBBE-27F6-C1D2CDBCD64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5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033075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61282-82BB-C001-692B-6A5FDC7A4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B580781-6ACD-C7B2-3AA7-0687BDA7289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B00DD42-F8E7-CE1B-80CB-FE1A70866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Fixes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38CB6B5-A387-91C2-6153-84AB9784F6B8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Landscape of tools is constantly evolving</a:t>
            </a:r>
          </a:p>
          <a:p>
            <a:r>
              <a:rPr lang="en-US" dirty="0"/>
              <a:t>OWASP lists 125 different SAST tools</a:t>
            </a:r>
          </a:p>
          <a:p>
            <a:r>
              <a:rPr lang="en-US" dirty="0"/>
              <a:t>Add here that also many DAST tools exist</a:t>
            </a:r>
          </a:p>
          <a:p>
            <a:r>
              <a:rPr lang="en-US" dirty="0"/>
              <a:t>How to compare?</a:t>
            </a:r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9FD4074-04F2-8C6E-0704-52A609233B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[X] OWASP Foundation, “Source code analysis tools,” OWASP. [Online]. Available: </a:t>
            </a:r>
            <a:r>
              <a:rPr lang="en-US" dirty="0">
                <a:hlinkClick r:id="rId2"/>
              </a:rPr>
              <a:t>https://owasp.org/www-community/Source_Code_Analysis_Tools</a:t>
            </a:r>
            <a:r>
              <a:rPr lang="en-US" dirty="0"/>
              <a:t>. [Accessed: Feb. 1, 2026].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C760968-8F46-6821-B36B-FDD7356736D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3ED2175-65B8-7EEF-4BE4-16C973BA71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6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98694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31635-4A9C-A5A4-999B-A28418D0B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68DB3CC-C431-BD96-4D4B-74D177DC17E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7F2C884-2A59-E0B2-858C-AD3976BED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compare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2808AB1-7924-7632-DA2B-DAE6044812AA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Comparing &amp; Benchmarking these tools is a topic of interest (Many papers benchmark and compare these tools)</a:t>
            </a:r>
          </a:p>
          <a:p>
            <a:r>
              <a:rPr lang="en-US" dirty="0"/>
              <a:t>“Relative performance” - Comparing to each other works fine</a:t>
            </a:r>
          </a:p>
          <a:p>
            <a:r>
              <a:rPr lang="en-US" dirty="0"/>
              <a:t>“Absolute performance” – Ground truth is needed</a:t>
            </a:r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AC4CCD8-5540-5938-2942-9C46C76C748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0F598F6-9D15-588E-DFF4-2E3602CB340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7648279-4B7E-F8EE-0926-7D7A8272094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7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8406602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8DDA0-05F7-7EFE-BF0D-71A4989FA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5292B9D-1906-E363-A038-84FF332671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B59A8EB-FC62-F79A-D79D-C22D13EE0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compare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834C79A-0FF7-0108-0E38-8F6C4EBDDAD2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Vulnerabilities have to be known</a:t>
            </a:r>
          </a:p>
          <a:p>
            <a:r>
              <a:rPr lang="en-US" dirty="0"/>
              <a:t>“How many vulnerabilities have been found, compared to how many were findable” </a:t>
            </a:r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C2F6910-2797-31FB-93F5-4119276BE11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6DE766F-FD85-D847-D51B-3CF26168E48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62D02DE-299D-92E5-A663-FA96FFAE2C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8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746409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9C58B-4FA0-C82C-A45D-E0F3682D5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1AA8E71-AC05-3240-90B9-A1F435EA97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D4F55C9-3A76-B6C6-DA31-6DBD18246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compare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E213FDA-8528-16AF-8276-999CD1DF00C2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Vulnerabilities have to be known</a:t>
            </a:r>
          </a:p>
          <a:p>
            <a:r>
              <a:rPr lang="en-US" dirty="0"/>
              <a:t>“How many vulnerabilities have been found, compared to how many were findable” </a:t>
            </a:r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14799FF-9B41-5659-AC25-FAA93A31595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5895153-F78A-B430-58B0-A98A8FD6CB0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75CB1EA-5B98-D540-C13B-4C1EC7FEBD1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9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893058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8CDE1-BFD0-B8BD-25FF-06C388D75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CD7BE1E-7ABA-266F-08AB-AFFDAC26FC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96D9E33-0D50-B4E0-DF0C-E360E0664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compare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A12E15D-5A61-5260-950E-8DEDE86F987D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Intentionally vulnerable apps</a:t>
            </a:r>
          </a:p>
          <a:p>
            <a:r>
              <a:rPr lang="en-US" dirty="0"/>
              <a:t>OWASP MASTG reference apps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D4C081D-B965-CE32-96C9-F344A227323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B03B1DE-5384-C939-5A4B-048FB6AEA0C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91F5EE6B-16C6-670E-4932-C1B617AE4B3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10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04241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6596C-A1FE-3D9B-1FA9-8EB2F03D3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5BABA3D-41DF-DE2E-0A0C-B5C8B5C7FF7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SAST and DAST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0130BB9-BE43-455D-916C-31516EB2C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MASTG?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2BB6D05-CC64-D71B-8CAA-9068ED73CF58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r>
              <a:rPr lang="en-US" dirty="0"/>
              <a:t>Industry standard </a:t>
            </a:r>
          </a:p>
          <a:p>
            <a:r>
              <a:rPr lang="en-US" dirty="0"/>
              <a:t>Gives validity to results on the reference apps (should/could mimic real-world ones)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FF59998-087B-8D3B-E3F6-50A8BEE7CB7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1595625-B24C-C497-09D9-B8E018E681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E8F3925-5AB3-4B7F-1268-CEBBD2000AE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890913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5669-9F68-68DE-8D68-15AFDF000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25DC0F1-6622-C6B1-C5F2-FFD55F0328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4257FF5-903F-2F8D-41C0-4A4683460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A8AC2D2-6742-91E2-C303-434F0B9691AF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1C41629-4282-C98E-C9F1-EA29EAA1938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6FD9AB4-6C07-99FD-964C-BD628898C7C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5E2BCA4-655A-6867-AF12-1EAC4681AB2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12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0592575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A3DB6-7C57-B148-C099-30341420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CAF3FF4-860D-11D6-0BBF-688C6A53F5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6F6823B2-233E-B344-0204-D33C3D8C4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Presentation Outline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FDDDCC1-3097-9AE7-217A-DE8C59FFD4D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Background knowledge</a:t>
            </a:r>
          </a:p>
          <a:p>
            <a:pPr>
              <a:lnSpc>
                <a:spcPct val="150000"/>
              </a:lnSpc>
            </a:pPr>
            <a:r>
              <a:rPr lang="en-US" dirty="0"/>
              <a:t>Connection to academia</a:t>
            </a:r>
          </a:p>
          <a:p>
            <a:pPr>
              <a:lnSpc>
                <a:spcPct val="150000"/>
              </a:lnSpc>
            </a:pPr>
            <a:r>
              <a:rPr lang="en-US" dirty="0"/>
              <a:t>State of the art in MASTG reference apps</a:t>
            </a:r>
          </a:p>
          <a:p>
            <a:pPr>
              <a:lnSpc>
                <a:spcPct val="150000"/>
              </a:lnSpc>
            </a:pPr>
            <a:r>
              <a:rPr lang="en-US" dirty="0"/>
              <a:t>Design of our apps</a:t>
            </a:r>
          </a:p>
          <a:p>
            <a:pPr>
              <a:lnSpc>
                <a:spcPct val="150000"/>
              </a:lnSpc>
            </a:pPr>
            <a:r>
              <a:rPr lang="en-US" dirty="0"/>
              <a:t>Development of our apps</a:t>
            </a:r>
          </a:p>
          <a:p>
            <a:pPr>
              <a:lnSpc>
                <a:spcPct val="150000"/>
              </a:lnSpc>
            </a:pPr>
            <a:r>
              <a:rPr lang="en-US" dirty="0"/>
              <a:t>Results</a:t>
            </a:r>
          </a:p>
          <a:p>
            <a:pPr>
              <a:lnSpc>
                <a:spcPct val="150000"/>
              </a:lnSpc>
            </a:pPr>
            <a:r>
              <a:rPr lang="en-US" dirty="0"/>
              <a:t>Outlook</a:t>
            </a:r>
          </a:p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534549-9D65-6315-AA9C-A6A1B7CA2A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C853293-6E22-37C3-798B-7DA75E98C4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E666C26-B502-CD54-258D-FD1527F4A2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5304832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20AA4-DA55-7BE9-28F8-DC5DE6E3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EE18FE0-5110-221B-5E9A-3F39AE20B52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OWASP Ecosystem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8E793A1-DC25-04B5-F11E-1AF4DEBD9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Knowledge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D7E1205-EBFA-81B7-68E4-06944F89FC1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92E8739-05C9-643E-6329-8C76AA742F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CC91783-C96B-0CB5-9140-6690022C945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BA30DAA-2FA0-7775-2816-7E35F3909A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14</a:t>
            </a:fld>
            <a:endParaRPr lang="de-CH" dirty="0"/>
          </a:p>
        </p:txBody>
      </p:sp>
      <p:pic>
        <p:nvPicPr>
          <p:cNvPr id="3" name="Grafik 2" descr="Ein Bild, das Text, Grafikdesign, Buch, Design enthält.&#10;&#10;KI-generierte Inhalte können fehlerhaft sein.">
            <a:extLst>
              <a:ext uri="{FF2B5EF4-FFF2-40B4-BE49-F238E27FC236}">
                <a16:creationId xmlns:a16="http://schemas.microsoft.com/office/drawing/2014/main" id="{7F41B9A3-E85B-C6BC-33C8-A267C38BC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7944" y="1793030"/>
            <a:ext cx="4932040" cy="2742970"/>
          </a:xfrm>
          <a:prstGeom prst="rect">
            <a:avLst/>
          </a:prstGeom>
        </p:spPr>
      </p:pic>
      <p:sp>
        <p:nvSpPr>
          <p:cNvPr id="5" name="Inhaltsplatzhalter 9">
            <a:extLst>
              <a:ext uri="{FF2B5EF4-FFF2-40B4-BE49-F238E27FC236}">
                <a16:creationId xmlns:a16="http://schemas.microsoft.com/office/drawing/2014/main" id="{3E282A58-1ECB-7B50-AE64-767C97DB40CD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b="1" dirty="0"/>
              <a:t>M</a:t>
            </a:r>
            <a:r>
              <a:rPr lang="en-US" dirty="0"/>
              <a:t>obile </a:t>
            </a:r>
            <a:r>
              <a:rPr lang="en-US" b="1" dirty="0"/>
              <a:t>A</a:t>
            </a:r>
            <a:r>
              <a:rPr lang="en-US" dirty="0"/>
              <a:t>pplication </a:t>
            </a:r>
            <a:r>
              <a:rPr lang="en-US" b="1" dirty="0"/>
              <a:t>S</a:t>
            </a:r>
            <a:r>
              <a:rPr lang="en-US" dirty="0"/>
              <a:t>ecurity project (MAS)</a:t>
            </a:r>
          </a:p>
          <a:p>
            <a:pPr>
              <a:lnSpc>
                <a:spcPct val="150000"/>
              </a:lnSpc>
            </a:pPr>
            <a:r>
              <a:rPr lang="en-US" dirty="0"/>
              <a:t>Assess security standards through tests</a:t>
            </a:r>
          </a:p>
          <a:p>
            <a:pPr>
              <a:lnSpc>
                <a:spcPct val="150000"/>
              </a:lnSpc>
            </a:pPr>
            <a:r>
              <a:rPr lang="en-US" dirty="0"/>
              <a:t>MASVS: What to test against</a:t>
            </a:r>
          </a:p>
          <a:p>
            <a:pPr>
              <a:lnSpc>
                <a:spcPct val="150000"/>
              </a:lnSpc>
            </a:pPr>
            <a:r>
              <a:rPr lang="en-US" dirty="0"/>
              <a:t>MASWE: What to test for</a:t>
            </a:r>
          </a:p>
          <a:p>
            <a:pPr>
              <a:lnSpc>
                <a:spcPct val="150000"/>
              </a:lnSpc>
            </a:pPr>
            <a:r>
              <a:rPr lang="en-US" dirty="0"/>
              <a:t>MASTG: How to test for it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8493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0238-FD12-B8B5-6245-B53DD25E4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6E3476D-2059-49CF-BA61-026DC8C4C42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9D09C25-DEA1-E475-00CF-92DFC174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2C4C2F1-99EA-EB79-69A3-6B4860CF226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Why do we care?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956B54C-C4A1-4D05-1591-C4C259FDC05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1260023-4C1B-18FF-8831-817A18FCA6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48258AF-B993-0756-3693-1451F585BD3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15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567042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AA0E9-9292-00CF-19C2-06B18A05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9D0AC68-22DF-03C3-A422-404F709D47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2A52234-3AB0-E337-8297-E5B1C052E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D2AA30C-0E1E-3C86-6CDB-B182D64B11A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“OWASP” &amp; “MASTG” on Google Scholar</a:t>
            </a:r>
          </a:p>
          <a:p>
            <a:pPr>
              <a:lnSpc>
                <a:spcPct val="150000"/>
              </a:lnSpc>
            </a:pPr>
            <a:r>
              <a:rPr lang="en-US" dirty="0"/>
              <a:t>Written in English</a:t>
            </a:r>
          </a:p>
          <a:p>
            <a:pPr>
              <a:lnSpc>
                <a:spcPct val="150000"/>
              </a:lnSpc>
            </a:pPr>
            <a:r>
              <a:rPr lang="en-US" dirty="0"/>
              <a:t>Published after 2023</a:t>
            </a:r>
          </a:p>
          <a:p>
            <a:pPr>
              <a:lnSpc>
                <a:spcPct val="150000"/>
              </a:lnSpc>
            </a:pPr>
            <a:r>
              <a:rPr lang="en-US" dirty="0"/>
              <a:t>15 Papers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3F8033-982D-063F-D0D2-5B7A79E922D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D4275D2-358A-7DCE-2EE6-BABA4E04A87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3E60019-7183-A859-8E7D-287298EB34D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16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077100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6AE6D-555F-5A35-2554-18A84DF37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43E294-50ED-0AE8-F066-0D6BE9E6841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87B1362-6F3D-120C-6BE7-0A0978275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586177D-F91E-4FA9-848C-79F3EC6C5C7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Used for evaluating real-world apps</a:t>
            </a:r>
          </a:p>
          <a:p>
            <a:pPr>
              <a:lnSpc>
                <a:spcPct val="150000"/>
              </a:lnSpc>
            </a:pPr>
            <a:r>
              <a:rPr lang="en-US" dirty="0"/>
              <a:t>Strong presence of cryptography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Storage and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2333BE-601E-7505-AE51-D0C816A9802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22C2F37-AE6B-1626-8596-6DECCEB388A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5D31D3F-0D15-5AAC-CA0B-68144C3ED16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17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1990292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33B7E-72D3-1709-B65C-B3D8DC69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D381B2E-4AFF-D4C0-6343-A568834FB8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ED5E6CC-8E9C-6CB3-1CF2-68F978E8B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9C9BA29-3B39-660E-ABE9-71978695514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dirty="0"/>
              <a:t>MASTG reference apps used for:</a:t>
            </a:r>
          </a:p>
          <a:p>
            <a:pPr>
              <a:lnSpc>
                <a:spcPct val="150000"/>
              </a:lnSpc>
            </a:pPr>
            <a:r>
              <a:rPr lang="en-US" dirty="0"/>
              <a:t>Testing tools</a:t>
            </a:r>
          </a:p>
          <a:p>
            <a:pPr>
              <a:lnSpc>
                <a:spcPct val="150000"/>
              </a:lnSpc>
            </a:pPr>
            <a:r>
              <a:rPr lang="en-US" dirty="0"/>
              <a:t>Comparing to real-world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48CA5CC-A51D-381C-6849-0D90C9D653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BBC15E4-EE0A-3CA4-5E66-8A0625B023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9BAEEFB-D1F0-912C-1FBB-43BC11BF772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18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3074218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B1F7E-92A6-4C6C-183A-68C0BC6EE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509BCEB-73EC-F2FF-D7D1-DC7CFAEB0E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Understanding the Challenge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682571B-C559-5183-3951-9894A769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1AB05A6-B10A-4874-6B0F-21E5160E7B4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Our goal is clear: develop MASTG reference apps</a:t>
            </a:r>
          </a:p>
          <a:p>
            <a:pPr>
              <a:lnSpc>
                <a:spcPct val="150000"/>
              </a:lnSpc>
            </a:pPr>
            <a:r>
              <a:rPr lang="en-US" dirty="0"/>
              <a:t>What makes a good reference app?</a:t>
            </a:r>
          </a:p>
          <a:p>
            <a:pPr>
              <a:lnSpc>
                <a:spcPct val="150000"/>
              </a:lnSpc>
            </a:pPr>
            <a:r>
              <a:rPr lang="en-US" dirty="0"/>
              <a:t>Analyze existing MASTG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2E852CA-1974-5955-9DD6-316FF4D74B2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4A35F96-9ACA-F8A2-CEC7-8E162B9165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AE0C18-55B9-0E93-0E77-63AD3F17D32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19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5536233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8FFB0-9015-D5A5-681C-008FEF57C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F5923D8-3BCC-5B07-EC1B-F39C32A70A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BE2DD50-D408-7AE8-347A-8A64FFE5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151D15C-CB8A-CA6E-794D-50DF1DFC5E2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Analyze source code and documentation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Map vulnerabilities to MASWE</a:t>
            </a:r>
          </a:p>
          <a:p>
            <a:pPr>
              <a:lnSpc>
                <a:spcPct val="150000"/>
              </a:lnSpc>
            </a:pPr>
            <a:r>
              <a:rPr lang="en-US" dirty="0"/>
              <a:t>Explore data</a:t>
            </a:r>
          </a:p>
          <a:p>
            <a:pPr>
              <a:lnSpc>
                <a:spcPct val="150000"/>
              </a:lnSpc>
            </a:pPr>
            <a:r>
              <a:rPr lang="en-US" dirty="0"/>
              <a:t>Challenge: Missing source code and documentation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AE9005D-2042-F804-CDA6-1D7854D2AD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0CB5406-475E-4B6B-A55A-670388A42D3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22B8BAC-0D20-9867-86A3-4402B4FE104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20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460854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086D-01E8-EF8E-A366-9C88BB021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48C1323-1CE5-8D56-723D-1E186BD730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031E9E9-77B6-9FAC-3799-370FB413B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8F3FD39-A325-AE57-71B6-E5A7826E07E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18 unique apps hosted by OWASP MASTG</a:t>
            </a:r>
          </a:p>
          <a:p>
            <a:pPr>
              <a:lnSpc>
                <a:spcPct val="150000"/>
              </a:lnSpc>
            </a:pPr>
            <a:r>
              <a:rPr lang="en-US" dirty="0"/>
              <a:t>12 with source code</a:t>
            </a:r>
          </a:p>
          <a:p>
            <a:pPr>
              <a:lnSpc>
                <a:spcPct val="150000"/>
              </a:lnSpc>
            </a:pPr>
            <a:r>
              <a:rPr lang="en-US" dirty="0"/>
              <a:t>8 with vulnerability documentation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8BFC11F-17C3-3FFE-831E-E7BA60BC70B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FC65FEA-DCDB-3C60-8AA3-5244C3049CB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A6EF2EA-915F-5F73-F52F-6B1FE29C4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9789236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7193B-18E5-03D2-58A2-BE9F9302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4F34F2-AEBB-9762-D7DC-6D1EBE53C7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Results Overview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A68EA11-9477-8242-54ED-E09A4647F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E5F774C-1E66-C857-E977-E5E06B65D10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163 implemented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42/117 MASWE vulnerability types covered</a:t>
            </a:r>
          </a:p>
          <a:p>
            <a:pPr>
              <a:lnSpc>
                <a:spcPct val="150000"/>
              </a:lnSpc>
            </a:pPr>
            <a:r>
              <a:rPr lang="en-US" dirty="0"/>
              <a:t>75 vulnerability types with no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37D8631-F40C-35F6-70A7-BB9A629EA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BDDC0F6-D720-7637-BBD8-88E0310663B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CE2B882-AF6C-5C5C-65CF-24423AFCC97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22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4269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5DEC-04F5-D8F7-910F-985C18DE5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3F2570-A9A3-6042-C006-BD91C105D9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Results Overview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6F8E6E3-A754-4021-C3AA-6813B0336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9C32563-C6BC-9021-ED34-C767BFFAFA4C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Most vulnerabilities without reference implementation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Small group is completely overrepresented</a:t>
            </a:r>
          </a:p>
          <a:p>
            <a:pPr>
              <a:lnSpc>
                <a:spcPct val="150000"/>
              </a:lnSpc>
            </a:pPr>
            <a:r>
              <a:rPr lang="en-US" dirty="0"/>
              <a:t>Reflected in coverage by category as well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E71139-B34B-9880-84D1-FFF83ECA4CF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61D2100-2ED0-86C4-E3F7-58ADC89BBB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4923D-425F-6C2D-6E61-788A63689F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158194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9C200-C32E-0A2F-B9F6-73EF7AFBE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EA6906-DE83-D868-78EC-96D02556B0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Types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B665C04-AF5B-5616-9DFA-738B89A76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61C4AA6-DE64-4849-5979-342EB940CD8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Top 10 vulnerability types account for 53.4% of all implementations</a:t>
            </a:r>
          </a:p>
          <a:p>
            <a:pPr>
              <a:lnSpc>
                <a:spcPct val="150000"/>
              </a:lnSpc>
            </a:pPr>
            <a:r>
              <a:rPr lang="en-US" dirty="0"/>
              <a:t>5 of category platform</a:t>
            </a:r>
          </a:p>
          <a:p>
            <a:pPr>
              <a:lnSpc>
                <a:spcPct val="150000"/>
              </a:lnSpc>
            </a:pPr>
            <a:r>
              <a:rPr lang="en-US" dirty="0"/>
              <a:t>3 of category 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02DE1F-34AD-90C9-EDBE-24BFEBAA77E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F7B802E-2DA0-812A-146C-74E3AABDBD1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15836-5613-879F-A790-692FD7D1A23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24</a:t>
            </a:fld>
            <a:endParaRPr lang="de-CH" dirty="0"/>
          </a:p>
        </p:txBody>
      </p:sp>
      <p:pic>
        <p:nvPicPr>
          <p:cNvPr id="2" name="Inhaltsplatzhalter 2" descr="Ein Bild, das Text, Screenshot, parallel, Reihe enthält.&#10;&#10;KI-generierte Inhalte können fehlerhaft sein.">
            <a:extLst>
              <a:ext uri="{FF2B5EF4-FFF2-40B4-BE49-F238E27FC236}">
                <a16:creationId xmlns:a16="http://schemas.microsoft.com/office/drawing/2014/main" id="{7FBD92A1-B005-D63C-5EF0-A01D236A99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519" y="1774106"/>
            <a:ext cx="5501682" cy="272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0365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1BC5B-78CB-C24B-853C-6E8A26D6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52E3904-4812-C9B7-5775-5D734B0397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4B1AE32-53CC-B7F1-2010-D2EB1A2AC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E833CFD-4B51-B7FF-A14E-DE8807F4F35B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Favoring of storage and platform vulnerability types</a:t>
            </a:r>
          </a:p>
          <a:p>
            <a:pPr>
              <a:lnSpc>
                <a:spcPct val="150000"/>
              </a:lnSpc>
            </a:pPr>
            <a:r>
              <a:rPr lang="en-US" dirty="0"/>
              <a:t>Lack of privacy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D9BFD35-040A-29FC-8694-DBAA2AF676F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9691BB3-45EB-BDE3-3471-265F3F81407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8D5B11-6F07-5EAE-0F89-3022D9100E0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25</a:t>
            </a:fld>
            <a:endParaRPr lang="de-CH" dirty="0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56FF658-159D-EA96-4349-1EE40FE88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771509"/>
            <a:ext cx="5501682" cy="2721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6157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BB663-935E-D418-D37F-9CDC31D29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7955161-BBF5-1C75-18DC-F62AEE7CA9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89DEFCC-3F7D-AEC9-6D4C-44D424BE5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1397524-03B4-9187-61DF-04916F51399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Auth and Crypto have most unrepresented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Dominance of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01A1E7-91B5-78F3-E471-1171396A468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53AFAC2-0924-DEA4-61BA-D0FA1ECA1F6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4B5349E-2C96-5882-F0EE-66BFBA34B92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26</a:t>
            </a:fld>
            <a:endParaRPr lang="de-CH" dirty="0"/>
          </a:p>
        </p:txBody>
      </p:sp>
      <p:pic>
        <p:nvPicPr>
          <p:cNvPr id="6" name="Grafik 5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DDA69A8B-801C-26B7-1943-F53F23240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817118"/>
            <a:ext cx="5500800" cy="270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290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1ACF5-18A0-EAE5-A8C8-475B7867D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BFE2FA0-3875-E63F-A13E-92265A1C210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Take-Away Points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FB65092-B6F7-EA63-2473-E42A23A13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196EB32-07BB-9EDA-EA78-295AE111AB6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Uneven coverage</a:t>
            </a:r>
          </a:p>
          <a:p>
            <a:pPr>
              <a:lnSpc>
                <a:spcPct val="150000"/>
              </a:lnSpc>
            </a:pPr>
            <a:r>
              <a:rPr lang="en-US" dirty="0"/>
              <a:t>Many without any implementation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Most implementations cover the same types</a:t>
            </a:r>
          </a:p>
          <a:p>
            <a:pPr>
              <a:lnSpc>
                <a:spcPct val="150000"/>
              </a:lnSpc>
            </a:pPr>
            <a:r>
              <a:rPr lang="en-US" dirty="0"/>
              <a:t>All vulnerabilities should have a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307A860-3827-6F06-296E-00585923AB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D4F15AF-8828-B4E0-C81F-00B70DDD2BC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43B162-B6F0-67F0-A483-1AE252154D1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27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210045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C4075-1FC6-D5EE-574B-05F6521F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42471FA-6B96-2A48-B81B-4A7D45A0B6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Significance for our apps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7DEFD3A-84E7-AA54-1523-4EE85251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F4E58F5-2341-2B40-98FD-A10FF5E37F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Completely open-source</a:t>
            </a:r>
          </a:p>
          <a:p>
            <a:pPr>
              <a:lnSpc>
                <a:spcPct val="150000"/>
              </a:lnSpc>
            </a:pPr>
            <a:r>
              <a:rPr lang="en-US" dirty="0"/>
              <a:t>Extensive documentation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Focus on MASVS-CRYPTO</a:t>
            </a:r>
          </a:p>
          <a:p>
            <a:pPr>
              <a:lnSpc>
                <a:spcPct val="150000"/>
              </a:lnSpc>
            </a:pPr>
            <a:r>
              <a:rPr lang="en-US" dirty="0"/>
              <a:t>Start with MASVS-STORAGE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4A3998-2A48-183B-C336-6441A00DCC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D2F4C98-D62D-01FF-2D8E-71E2DE1EAD7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0042D3-BCD3-7C80-60EC-0EDF161535C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28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2388177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42CDC-AE40-2043-91B5-FA9B459C8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11FF47-86F5-05D9-C898-0FD3FB1997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Modular Architecture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743DB6-A94E-34CA-ECF4-4573D0607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E2EE6E93-9B74-0C77-0E18-1F5A13D3A9E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8B0D81D-B41B-8882-1E7F-4DF1DAFA2B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A18D5A3-4CB6-5CBC-5E17-9A197AE8E98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45B65B-3FDB-635B-543E-18F97EF8639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29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19386211-C073-B58E-3A7A-CB3A32FCDB1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dirty="0"/>
              <a:t>Multiple, modular apps design</a:t>
            </a:r>
          </a:p>
          <a:p>
            <a:pPr>
              <a:lnSpc>
                <a:spcPct val="150000"/>
              </a:lnSpc>
            </a:pPr>
            <a:r>
              <a:rPr lang="en-US" dirty="0"/>
              <a:t>One app per MASVS category</a:t>
            </a:r>
          </a:p>
          <a:p>
            <a:pPr>
              <a:lnSpc>
                <a:spcPct val="150000"/>
              </a:lnSpc>
            </a:pPr>
            <a:r>
              <a:rPr lang="en-US" dirty="0"/>
              <a:t>Shared resources in “</a:t>
            </a:r>
            <a:r>
              <a:rPr lang="en-US" b="1" dirty="0"/>
              <a:t>common</a:t>
            </a:r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8491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27A-E95C-74E1-E657-A35EA9235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9251183-A64E-C3E4-A617-E0F19B3438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Modular Architecture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06D26FC-D5D3-DCFE-69BB-EB994D68A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39FB0F4B-0604-48D6-5FA8-589883FE9B7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1DAD757-48CD-E760-F582-E81A85AB06C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4D28EB9-6470-81AE-EA64-FF03C1E7C3B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8FD7990-4D50-ECAC-CBD2-93FF4451EA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30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70CBE864-B2D8-B83A-1CD0-64CD9314F1F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dirty="0"/>
              <a:t>Limited effect of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Standalone units</a:t>
            </a:r>
          </a:p>
          <a:p>
            <a:pPr>
              <a:lnSpc>
                <a:spcPct val="150000"/>
              </a:lnSpc>
            </a:pPr>
            <a:r>
              <a:rPr lang="en-US" dirty="0"/>
              <a:t>Limit boilerplate code</a:t>
            </a:r>
          </a:p>
          <a:p>
            <a:pPr>
              <a:lnSpc>
                <a:spcPct val="150000"/>
              </a:lnSpc>
            </a:pPr>
            <a:r>
              <a:rPr lang="en-US" dirty="0"/>
              <a:t>Limit scaling costs</a:t>
            </a:r>
          </a:p>
        </p:txBody>
      </p:sp>
    </p:spTree>
    <p:extLst>
      <p:ext uri="{BB962C8B-B14F-4D97-AF65-F5344CB8AC3E}">
        <p14:creationId xmlns:p14="http://schemas.microsoft.com/office/powerpoint/2010/main" val="22094126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7FA1E-341F-8BF3-B879-1323A80C7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A1168C3-B1AD-DF48-7D5C-4109B2CA5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Feature-Oriented Design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1D594F3-08DF-7CF7-3534-9A98B5D20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FE520D7-B1AD-FCFB-A875-ED1A73936F8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EDA0F28-9026-6DC5-8295-CE0F015DB41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AFDA132-BB3F-E45F-AF5D-021E19D90B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31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FFBA5577-CBEF-DDD8-0FD9-08D3116A8BFA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dirty="0"/>
              <a:t>Feature-oriented structure</a:t>
            </a:r>
          </a:p>
          <a:p>
            <a:pPr>
              <a:lnSpc>
                <a:spcPct val="150000"/>
              </a:lnSpc>
            </a:pPr>
            <a:r>
              <a:rPr lang="en-US" dirty="0"/>
              <a:t>One app package per vulnerability</a:t>
            </a:r>
          </a:p>
          <a:p>
            <a:pPr>
              <a:lnSpc>
                <a:spcPct val="150000"/>
              </a:lnSpc>
            </a:pPr>
            <a:r>
              <a:rPr lang="en-US" dirty="0"/>
              <a:t>Extendable with additional logic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0AEE2CF-16CB-8619-D2D4-E1D83A1C3F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1216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597DB-ECB8-CBF5-0D14-07E3433D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A223E73-B6A5-7A24-A4FB-9E4C85937F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Feature-Oriented Design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6222B78-8354-CCA6-4C72-F34810038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3A58186-C5A9-0404-89A9-259AE96DE6C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926C68F-407B-926D-1513-2298EFE451B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DD64BA1-A8EC-B01C-2ABB-EAE316CCE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32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DD5C48E1-FD84-3344-14BF-274A0E05A90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dirty="0"/>
              <a:t>Separation of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Clean project structure</a:t>
            </a:r>
          </a:p>
          <a:p>
            <a:pPr>
              <a:lnSpc>
                <a:spcPct val="150000"/>
              </a:lnSpc>
            </a:pPr>
            <a:r>
              <a:rPr lang="en-US" dirty="0"/>
              <a:t>Isolated app development &amp; testing</a:t>
            </a:r>
          </a:p>
          <a:p>
            <a:pPr>
              <a:lnSpc>
                <a:spcPct val="150000"/>
              </a:lnSpc>
            </a:pPr>
            <a:r>
              <a:rPr lang="en-US" dirty="0"/>
              <a:t>Minimal scaling costs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B6550B34-5809-6263-E0B2-F37DA0465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5369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9B7F7-2987-5E04-D84C-4FAC83272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FF1D19E-7BB0-306B-E2A7-21DF5C5C337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717414E-C47E-59F9-7709-B86A86DE7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BAD108E-429F-54C7-33F7-366CE777629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7311FA4-6A87-450E-011C-2763920937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B88DAF8-E1C7-3AB9-786A-2940A9D78CC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33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35B089B-76F4-175A-A4D3-709819664C2F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All vulnerabilities share:</a:t>
            </a:r>
          </a:p>
          <a:p>
            <a:pPr>
              <a:lnSpc>
                <a:spcPct val="150000"/>
              </a:lnSpc>
            </a:pPr>
            <a:r>
              <a:rPr lang="en-US" dirty="0"/>
              <a:t>Login &amp; registration logic</a:t>
            </a:r>
          </a:p>
          <a:p>
            <a:pPr>
              <a:lnSpc>
                <a:spcPct val="150000"/>
              </a:lnSpc>
            </a:pPr>
            <a:r>
              <a:rPr lang="en-US" dirty="0"/>
              <a:t>Activity layouts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Mostly differ in encryption and storage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CE32860B-E065-EEDB-4657-C65095ACD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6353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1079F-6360-DABE-10EA-A23A9586E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C21CEE-1A91-4806-685E-615BF89707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9018BEC-C557-3233-FAB9-35101A766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E84C9DD-54E0-A027-D4C0-D6988AE11D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9D55E57-C163-9FD6-16D6-74415436E0F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BFE6189-F72E-0B1C-BE0E-71096166F2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34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6D07A4FF-CD36-1400-FFB8-05BBC29AD25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dirty="0"/>
              <a:t>Reduce boilerplate code</a:t>
            </a:r>
          </a:p>
          <a:p>
            <a:pPr>
              <a:lnSpc>
                <a:spcPct val="150000"/>
              </a:lnSpc>
            </a:pPr>
            <a:r>
              <a:rPr lang="en-US" dirty="0"/>
              <a:t>Uniform formatting</a:t>
            </a:r>
          </a:p>
          <a:p>
            <a:pPr>
              <a:lnSpc>
                <a:spcPct val="150000"/>
              </a:lnSpc>
            </a:pPr>
            <a:r>
              <a:rPr lang="en-US" dirty="0"/>
              <a:t>Minimal scaling costs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0DDE39E9-0DF5-98C6-5D82-F120D0BB1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6143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E2DA2-E7DA-E0CB-91A3-BBCC1142F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B69A41C-5269-C908-DF01-8D43FD41E5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Abstract Templates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717848F-6DA8-AF9E-8A4E-B69EDC96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2011C8-D2DB-1D12-EEAA-FA05806642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3B69F2-6A45-E2DD-4729-4DAD9BE32D4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3A4457-A35A-24A9-56B9-A12B8A0AAC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35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08FBE29-0A9B-2136-FE95-547CD4A4F357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Hooks for:</a:t>
            </a:r>
          </a:p>
          <a:p>
            <a:pPr>
              <a:lnSpc>
                <a:spcPct val="150000"/>
              </a:lnSpc>
            </a:pPr>
            <a:r>
              <a:rPr lang="en-US" dirty="0"/>
              <a:t>Specifying credentials file</a:t>
            </a:r>
          </a:p>
          <a:p>
            <a:pPr>
              <a:lnSpc>
                <a:spcPct val="150000"/>
              </a:lnSpc>
            </a:pPr>
            <a:r>
              <a:rPr lang="en-US" dirty="0"/>
              <a:t>Custom encryption</a:t>
            </a:r>
          </a:p>
          <a:p>
            <a:pPr>
              <a:lnSpc>
                <a:spcPct val="150000"/>
              </a:lnSpc>
            </a:pPr>
            <a:r>
              <a:rPr lang="en-US" dirty="0"/>
              <a:t>Post registration logic</a:t>
            </a:r>
          </a:p>
        </p:txBody>
      </p:sp>
      <p:pic>
        <p:nvPicPr>
          <p:cNvPr id="10" name="Grafik 9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7623B661-7ABF-B101-0E01-F825DBAD8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2906" y="1091590"/>
            <a:ext cx="3641094" cy="3556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5929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A5CA4-64C5-7650-1AD1-BB5C56343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3BDF50A-3A9D-54A1-1FF3-007B51AFB9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Abstract Templates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76CF0BA-EEB7-1496-78DC-AD84BAC5A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66041B5-2F5A-84E7-FE51-779E7D59EC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634A877-7806-0F14-7C8C-13C17F46DF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FFF35CB-62A4-48C5-FA8C-E3E872DF4E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36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4223479-BFE4-D526-569D-0D213A21FD2D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Hooks for:</a:t>
            </a:r>
          </a:p>
          <a:p>
            <a:pPr>
              <a:lnSpc>
                <a:spcPct val="150000"/>
              </a:lnSpc>
            </a:pPr>
            <a:r>
              <a:rPr lang="en-US" dirty="0"/>
              <a:t>Specifying credentials file</a:t>
            </a:r>
          </a:p>
          <a:p>
            <a:pPr>
              <a:lnSpc>
                <a:spcPct val="150000"/>
              </a:lnSpc>
            </a:pPr>
            <a:r>
              <a:rPr lang="en-US" dirty="0"/>
              <a:t>Custom decryption</a:t>
            </a:r>
          </a:p>
          <a:p>
            <a:pPr>
              <a:lnSpc>
                <a:spcPct val="150000"/>
              </a:lnSpc>
            </a:pPr>
            <a:r>
              <a:rPr lang="en-US" dirty="0"/>
              <a:t>Custom verification process</a:t>
            </a:r>
          </a:p>
          <a:p>
            <a:pPr>
              <a:lnSpc>
                <a:spcPct val="150000"/>
              </a:lnSpc>
            </a:pPr>
            <a:r>
              <a:rPr lang="en-US" dirty="0"/>
              <a:t>Custom failed login logic</a:t>
            </a:r>
          </a:p>
        </p:txBody>
      </p:sp>
      <p:pic>
        <p:nvPicPr>
          <p:cNvPr id="5" name="Grafik 4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9798647E-AEF4-6663-479E-CF1472EF7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08" y="1096416"/>
            <a:ext cx="4139629" cy="3542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3109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6E733-7832-5804-7FC1-5A31B1EB6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B2102DA2-5FC0-19DA-8369-12AC04B6C9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Architecture Summary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45227B0-7E12-E105-2EC8-FD9270EE5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AD81F6D-E53C-382A-ADB7-5DF0712CE7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D983D1-D00D-9A57-DDF6-46687BEB33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CB90E0B-E2F5-5F9D-9ACA-840520605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37</a:t>
            </a:fld>
            <a:endParaRPr lang="de-CH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4591698-D6E5-4652-8666-21E829868FD0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dirty="0"/>
              <a:t>One app package per vulnerability type</a:t>
            </a:r>
          </a:p>
          <a:p>
            <a:pPr>
              <a:lnSpc>
                <a:spcPct val="150000"/>
              </a:lnSpc>
            </a:pPr>
            <a:r>
              <a:rPr lang="en-US" dirty="0"/>
              <a:t>One app per vulnerability category</a:t>
            </a:r>
          </a:p>
          <a:p>
            <a:pPr>
              <a:lnSpc>
                <a:spcPct val="150000"/>
              </a:lnSpc>
            </a:pPr>
            <a:r>
              <a:rPr lang="en-US" dirty="0"/>
              <a:t>Resources shared by apps stored in “common” library module</a:t>
            </a:r>
          </a:p>
          <a:p>
            <a:pPr>
              <a:lnSpc>
                <a:spcPct val="150000"/>
              </a:lnSpc>
            </a:pPr>
            <a:r>
              <a:rPr lang="en-US" dirty="0"/>
              <a:t>All apps are independent modules of the project</a:t>
            </a:r>
          </a:p>
          <a:p>
            <a:pPr>
              <a:lnSpc>
                <a:spcPct val="150000"/>
              </a:lnSpc>
            </a:pPr>
            <a:r>
              <a:rPr lang="en-US" dirty="0"/>
              <a:t>Custom templates reduce boiler plate code</a:t>
            </a:r>
          </a:p>
          <a:p>
            <a:pPr>
              <a:lnSpc>
                <a:spcPct val="15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218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C30F-C25B-7073-3A1B-166046574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D60D8A2-CAC1-F1D4-4407-CDABBAF2AD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7445F2-BA2E-405F-D428-A101D5485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A8EAE79-55D3-0EEA-7F7A-4174686DBD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1972BDC-A039-337C-C4D1-1A08C3B37E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0ABAD69-43AC-D932-B15F-D0E672663AF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D30E9D-0965-D08C-B126-2AD14507A20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38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435624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36EE9-C990-5FE7-041E-4F5B09E7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8E8AD95-61A2-77CD-B870-A319B7260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C539FA-EBDF-C1CB-E52F-738DBCDA4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D4081EF-A6FC-3D8B-48D3-79CF305C88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6E9340D-6B84-073F-A6ED-82115C9DA4D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06F3D58-BF04-8E6A-1D75-45010D651BD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0553A4-0692-4646-8E66-2D3709ED223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39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6925134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C20D1-57AD-F86B-8489-2E358DBA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BC522CA-53F3-CF17-D887-15142CFA62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2C73E22-8B82-ACD5-F51B-91C6C2328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7E0469D-A9A0-891B-56B2-8C2813618A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87CF201-DD73-C415-69E7-FDFA415984C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BCE4A2C-39BD-750B-36BB-9ED30109D8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D203937-AC8A-A182-F4CA-779A591EF26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40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5407827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06658-C64B-727A-C917-DF1C65DEB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04FB0D8-06A6-E6A4-A68C-6FEA848427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8D42EF4-F7E4-ABF1-5A37-7372FDFD4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CCB19F-5FB3-2FAE-6453-A947D02CDEB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B13DC48-4D06-62BA-9044-960EEAFC99B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4D849F9-7D87-6DF0-A011-CB0FBE4440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B518C4-A397-D4CE-873C-C005032112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41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59088668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220B11A5-9FBE-4BE8-88F7-F6586911FCB9}"/>
    </a:ext>
  </a:extLst>
</a:theme>
</file>

<file path=ppt/theme/theme2.xml><?xml version="1.0" encoding="utf-8"?>
<a:theme xmlns:a="http://schemas.openxmlformats.org/drawingml/2006/main" name="1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B4599F3B-7FCE-492B-8B3D-887A710F2678}"/>
    </a:ext>
  </a:extLst>
</a:theme>
</file>

<file path=ppt/theme/theme3.xml><?xml version="1.0" encoding="utf-8"?>
<a:theme xmlns:a="http://schemas.openxmlformats.org/drawingml/2006/main" name="End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4527320C-C198-40CD-B0BF-F9ABCAA7BE5F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UniBE - Vorlage Praesentationen</Template>
  <TotalTime>0</TotalTime>
  <Words>1034</Words>
  <Application>Microsoft Office PowerPoint</Application>
  <PresentationFormat>Bildschirmpräsentation (16:9)</PresentationFormat>
  <Paragraphs>228</Paragraphs>
  <Slides>41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41</vt:i4>
      </vt:variant>
    </vt:vector>
  </HeadingPairs>
  <TitlesOfParts>
    <vt:vector size="47" baseType="lpstr">
      <vt:lpstr>Arial</vt:lpstr>
      <vt:lpstr>Calibri</vt:lpstr>
      <vt:lpstr>Symbol</vt:lpstr>
      <vt:lpstr>3_Office</vt:lpstr>
      <vt:lpstr>1_Office</vt:lpstr>
      <vt:lpstr>Ende</vt:lpstr>
      <vt:lpstr>Development of a Reference Application for the OWASP Mobile Application Security Testing Guide (MASTG)</vt:lpstr>
      <vt:lpstr>The Problem</vt:lpstr>
      <vt:lpstr>The Problem</vt:lpstr>
      <vt:lpstr>The Causes</vt:lpstr>
      <vt:lpstr>The Fixes</vt:lpstr>
      <vt:lpstr>The Fixes</vt:lpstr>
      <vt:lpstr>How to compare</vt:lpstr>
      <vt:lpstr>How to compare</vt:lpstr>
      <vt:lpstr>How to compare</vt:lpstr>
      <vt:lpstr>How to compare</vt:lpstr>
      <vt:lpstr>Why MASTG?</vt:lpstr>
      <vt:lpstr>PowerPoint-Präsentation</vt:lpstr>
      <vt:lpstr>Presentation Outline</vt:lpstr>
      <vt:lpstr>Background Knowledge</vt:lpstr>
      <vt:lpstr>Connection to Academia</vt:lpstr>
      <vt:lpstr>Connection to Academia</vt:lpstr>
      <vt:lpstr>Connection to Academia</vt:lpstr>
      <vt:lpstr>Connection to Academia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Scholl, André (IWI)</dc:creator>
  <cp:lastModifiedBy>Kronig, Dominic Fabian (STUDENTS)</cp:lastModifiedBy>
  <cp:revision>126</cp:revision>
  <dcterms:created xsi:type="dcterms:W3CDTF">2021-06-29T15:00:13Z</dcterms:created>
  <dcterms:modified xsi:type="dcterms:W3CDTF">2026-02-02T11:13:42Z</dcterms:modified>
</cp:coreProperties>
</file>